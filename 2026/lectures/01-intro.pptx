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54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36" r:id="rId16"/>
    <p:sldId id="341" r:id="rId17"/>
    <p:sldId id="343" r:id="rId18"/>
    <p:sldId id="349" r:id="rId19"/>
    <p:sldId id="356" r:id="rId20"/>
    <p:sldId id="35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44" autoAdjust="0"/>
    <p:restoredTop sz="94660"/>
  </p:normalViewPr>
  <p:slideViewPr>
    <p:cSldViewPr snapToGrid="0">
      <p:cViewPr varScale="1">
        <p:scale>
          <a:sx n="204" d="100"/>
          <a:sy n="204" d="100"/>
        </p:scale>
        <p:origin x="208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049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77F7F48-6845-4FE4-9DD9-E2A4F6A15DD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30A561C-1100-47EF-80C8-24DF1905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39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77F7F48-6845-4FE4-9DD9-E2A4F6A15DD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30A561C-1100-47EF-80C8-24DF1905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639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13895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77F7F48-6845-4FE4-9DD9-E2A4F6A15DD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30A561C-1100-47EF-80C8-24DF1905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7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77F7F48-6845-4FE4-9DD9-E2A4F6A15DD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30A561C-1100-47EF-80C8-24DF19056DD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8803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D77F7F48-6845-4FE4-9DD9-E2A4F6A15DD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fld id="{830A561C-1100-47EF-80C8-24DF1905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79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77F7F48-6845-4FE4-9DD9-E2A4F6A15DD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30A561C-1100-47EF-80C8-24DF1905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80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77F7F48-6845-4FE4-9DD9-E2A4F6A15DD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30A561C-1100-47EF-80C8-24DF1905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195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77F7F48-6845-4FE4-9DD9-E2A4F6A15DD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30A561C-1100-47EF-80C8-24DF19056DD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452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77F7F48-6845-4FE4-9DD9-E2A4F6A15DD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30A561C-1100-47EF-80C8-24DF19056DD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26834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D77F7F48-6845-4FE4-9DD9-E2A4F6A15DD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830A561C-1100-47EF-80C8-24DF19056DD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13070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77F7F48-6845-4FE4-9DD9-E2A4F6A15DD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30A561C-1100-47EF-80C8-24DF1905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35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77F7F48-6845-4FE4-9DD9-E2A4F6A15DD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30A561C-1100-47EF-80C8-24DF19056D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51730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77F7F48-6845-4FE4-9DD9-E2A4F6A15DD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30A561C-1100-47EF-80C8-24DF1905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064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D77F7F48-6845-4FE4-9DD9-E2A4F6A15DD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30A561C-1100-47EF-80C8-24DF1905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21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D77F7F48-6845-4FE4-9DD9-E2A4F6A15DD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30A561C-1100-47EF-80C8-24DF19056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93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cs.cmu.edu/~15316" TargetMode="Externa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hyperlink" Target="https://piazza.com/cmu/spring2026/1531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524A6-1F9E-8704-414B-7A38B76683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59" y="2743200"/>
            <a:ext cx="8602173" cy="2386584"/>
          </a:xfrm>
        </p:spPr>
        <p:txBody>
          <a:bodyPr>
            <a:normAutofit fontScale="90000"/>
          </a:bodyPr>
          <a:lstStyle/>
          <a:p>
            <a:r>
              <a:rPr lang="en-US" dirty="0"/>
              <a:t>15-316: Software Foundations of Security and Privacy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B27AE8-51CF-3BD1-4F5A-E8FE751E0D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107986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DFCBF96-A8BD-E417-7D67-E216E103F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pPr algn="l"/>
            <a:r>
              <a:rPr lang="en-US" dirty="0"/>
              <a:t>Course Staff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093E2F-ED0C-9621-9C1C-E2951B9962B3}"/>
              </a:ext>
            </a:extLst>
          </p:cNvPr>
          <p:cNvGrpSpPr/>
          <p:nvPr/>
        </p:nvGrpSpPr>
        <p:grpSpPr>
          <a:xfrm>
            <a:off x="2917999" y="1730937"/>
            <a:ext cx="6356003" cy="4761938"/>
            <a:chOff x="3038000" y="1730937"/>
            <a:chExt cx="6356003" cy="476193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FAB0379-B5A6-A331-69EB-8D4F724B0368}"/>
                </a:ext>
              </a:extLst>
            </p:cNvPr>
            <p:cNvGrpSpPr/>
            <p:nvPr/>
          </p:nvGrpSpPr>
          <p:grpSpPr>
            <a:xfrm>
              <a:off x="5337417" y="4402866"/>
              <a:ext cx="1517166" cy="2090009"/>
              <a:chOff x="3706564" y="4067926"/>
              <a:chExt cx="1517166" cy="2090009"/>
            </a:xfrm>
          </p:grpSpPr>
          <p:pic>
            <p:nvPicPr>
              <p:cNvPr id="2" name="Picture 2" descr="Avatar">
                <a:extLst>
                  <a:ext uri="{FF2B5EF4-FFF2-40B4-BE49-F238E27FC236}">
                    <a16:creationId xmlns:a16="http://schemas.microsoft.com/office/drawing/2014/main" id="{B6509C91-0125-AF8C-2159-63F4A66B00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06564" y="4067926"/>
                <a:ext cx="1517166" cy="1517166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A04923-EEEB-5811-C262-6311CCCFB781}"/>
                  </a:ext>
                </a:extLst>
              </p:cNvPr>
              <p:cNvSpPr txBox="1"/>
              <p:nvPr/>
            </p:nvSpPr>
            <p:spPr>
              <a:xfrm>
                <a:off x="3853313" y="5788603"/>
                <a:ext cx="12236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Eleanor Li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9AFAB2B-5BAD-A55F-9768-E4B0F1777895}"/>
                </a:ext>
              </a:extLst>
            </p:cNvPr>
            <p:cNvGrpSpPr/>
            <p:nvPr/>
          </p:nvGrpSpPr>
          <p:grpSpPr>
            <a:xfrm>
              <a:off x="3076088" y="1730937"/>
              <a:ext cx="1518682" cy="2037400"/>
              <a:chOff x="1445235" y="1395997"/>
              <a:chExt cx="1518682" cy="2037400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3C8682-29F5-9714-DA8A-7F7E08C68D13}"/>
                  </a:ext>
                </a:extLst>
              </p:cNvPr>
              <p:cNvSpPr txBox="1"/>
              <p:nvPr/>
            </p:nvSpPr>
            <p:spPr>
              <a:xfrm>
                <a:off x="1572640" y="3064065"/>
                <a:ext cx="12638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Justin Zou</a:t>
                </a:r>
              </a:p>
            </p:txBody>
          </p:sp>
          <p:pic>
            <p:nvPicPr>
              <p:cNvPr id="8" name="Picture 2" descr="Justin Zou profile image">
                <a:extLst>
                  <a:ext uri="{FF2B5EF4-FFF2-40B4-BE49-F238E27FC236}">
                    <a16:creationId xmlns:a16="http://schemas.microsoft.com/office/drawing/2014/main" id="{FEA61FF4-2CE8-D584-22F4-F48BE6BFDF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45235" y="1395997"/>
                <a:ext cx="1518682" cy="1518682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176AF35-4C86-B104-CF9C-6EDF6E075932}"/>
                </a:ext>
              </a:extLst>
            </p:cNvPr>
            <p:cNvGrpSpPr/>
            <p:nvPr/>
          </p:nvGrpSpPr>
          <p:grpSpPr>
            <a:xfrm>
              <a:off x="5293672" y="1755101"/>
              <a:ext cx="1518682" cy="2013236"/>
              <a:chOff x="3662819" y="1420161"/>
              <a:chExt cx="1518682" cy="2013236"/>
            </a:xfrm>
          </p:grpSpPr>
          <p:pic>
            <p:nvPicPr>
              <p:cNvPr id="15" name="Picture 6" descr="Profile photo of Keya Mann">
                <a:extLst>
                  <a:ext uri="{FF2B5EF4-FFF2-40B4-BE49-F238E27FC236}">
                    <a16:creationId xmlns:a16="http://schemas.microsoft.com/office/drawing/2014/main" id="{E413880A-A0BE-E792-5D7F-444E274283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62819" y="1420161"/>
                <a:ext cx="1518682" cy="1518682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1AB651D-1A72-5E9A-9F7B-5087C61D671F}"/>
                  </a:ext>
                </a:extLst>
              </p:cNvPr>
              <p:cNvSpPr txBox="1"/>
              <p:nvPr/>
            </p:nvSpPr>
            <p:spPr>
              <a:xfrm>
                <a:off x="3749764" y="3064065"/>
                <a:ext cx="13447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Keya Mann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41E449B-C2A0-242B-6144-9E6EEEC45315}"/>
                </a:ext>
              </a:extLst>
            </p:cNvPr>
            <p:cNvGrpSpPr/>
            <p:nvPr/>
          </p:nvGrpSpPr>
          <p:grpSpPr>
            <a:xfrm>
              <a:off x="7066571" y="1755101"/>
              <a:ext cx="2327432" cy="2013236"/>
              <a:chOff x="5435718" y="1420161"/>
              <a:chExt cx="2327432" cy="2013236"/>
            </a:xfrm>
          </p:grpSpPr>
          <p:pic>
            <p:nvPicPr>
              <p:cNvPr id="1032" name="Picture 8" descr="Profile photo of Sanjana Kuchibhotla">
                <a:extLst>
                  <a:ext uri="{FF2B5EF4-FFF2-40B4-BE49-F238E27FC236}">
                    <a16:creationId xmlns:a16="http://schemas.microsoft.com/office/drawing/2014/main" id="{CBFF768F-C231-09D9-48DC-AE545B5571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40093" y="1420161"/>
                <a:ext cx="1518682" cy="1518682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474E35C-8A0E-4043-9771-7DE8CAB8A28A}"/>
                  </a:ext>
                </a:extLst>
              </p:cNvPr>
              <p:cNvSpPr txBox="1"/>
              <p:nvPr/>
            </p:nvSpPr>
            <p:spPr>
              <a:xfrm>
                <a:off x="5435718" y="3064065"/>
                <a:ext cx="2327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Sanjana Kuchibhotla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B559457-7D28-3149-45B5-C7796B55AF65}"/>
                </a:ext>
              </a:extLst>
            </p:cNvPr>
            <p:cNvGrpSpPr/>
            <p:nvPr/>
          </p:nvGrpSpPr>
          <p:grpSpPr>
            <a:xfrm>
              <a:off x="3038000" y="4402866"/>
              <a:ext cx="1631857" cy="2090009"/>
              <a:chOff x="1407147" y="4067926"/>
              <a:chExt cx="1631857" cy="2090009"/>
            </a:xfrm>
          </p:grpSpPr>
          <p:pic>
            <p:nvPicPr>
              <p:cNvPr id="1036" name="Picture 12" descr="Profile photo of Yuchen Wang">
                <a:extLst>
                  <a:ext uri="{FF2B5EF4-FFF2-40B4-BE49-F238E27FC236}">
                    <a16:creationId xmlns:a16="http://schemas.microsoft.com/office/drawing/2014/main" id="{FAC7ACCD-D345-D5EA-618D-B697A6500E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63735" y="4067926"/>
                <a:ext cx="1518682" cy="1518682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6071D46-A84A-E87B-7549-09C653A3F0E8}"/>
                  </a:ext>
                </a:extLst>
              </p:cNvPr>
              <p:cNvSpPr txBox="1"/>
              <p:nvPr/>
            </p:nvSpPr>
            <p:spPr>
              <a:xfrm>
                <a:off x="1407147" y="5788603"/>
                <a:ext cx="16318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Yuchen Wang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6F99D22-3C5E-A95F-5BCD-799E4D23F9D5}"/>
                </a:ext>
              </a:extLst>
            </p:cNvPr>
            <p:cNvGrpSpPr/>
            <p:nvPr/>
          </p:nvGrpSpPr>
          <p:grpSpPr>
            <a:xfrm>
              <a:off x="7472794" y="4483029"/>
              <a:ext cx="1514985" cy="2009846"/>
              <a:chOff x="5841941" y="4148089"/>
              <a:chExt cx="1514985" cy="2009846"/>
            </a:xfrm>
          </p:grpSpPr>
          <p:pic>
            <p:nvPicPr>
              <p:cNvPr id="1038" name="Picture 14">
                <a:extLst>
                  <a:ext uri="{FF2B5EF4-FFF2-40B4-BE49-F238E27FC236}">
                    <a16:creationId xmlns:a16="http://schemas.microsoft.com/office/drawing/2014/main" id="{FF839AA8-B1EF-BA9B-A498-75C536CE48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0502" b="14338"/>
              <a:stretch>
                <a:fillRect/>
              </a:stretch>
            </p:blipFill>
            <p:spPr bwMode="auto">
              <a:xfrm>
                <a:off x="5841941" y="4148089"/>
                <a:ext cx="1514985" cy="1518682"/>
              </a:xfrm>
              <a:prstGeom prst="ellipse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9F0389D-632E-F04A-D75B-80F3810CD218}"/>
                  </a:ext>
                </a:extLst>
              </p:cNvPr>
              <p:cNvSpPr txBox="1"/>
              <p:nvPr/>
            </p:nvSpPr>
            <p:spPr>
              <a:xfrm>
                <a:off x="5891290" y="5788603"/>
                <a:ext cx="14162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Jackson Ma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68237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B1EA3-0080-44AB-1FF9-E9DBD19B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Failed Attempts at Security: Netflix Prize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29FB0-2013-3C81-53D7-EC032376A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911096"/>
            <a:ext cx="7071539" cy="3859742"/>
          </a:xfrm>
        </p:spPr>
        <p:txBody>
          <a:bodyPr>
            <a:normAutofit/>
          </a:bodyPr>
          <a:lstStyle/>
          <a:p>
            <a:r>
              <a:rPr lang="en-US" sz="2400" dirty="0"/>
              <a:t>$1million competition to improve Netflix’s recommendation system</a:t>
            </a:r>
          </a:p>
          <a:p>
            <a:endParaRPr lang="en-US" sz="2400" dirty="0"/>
          </a:p>
          <a:p>
            <a:r>
              <a:rPr lang="en-US" sz="2400" dirty="0"/>
              <a:t>100 million ratings from 500,000 users</a:t>
            </a:r>
          </a:p>
          <a:p>
            <a:endParaRPr lang="en-US" sz="2400" dirty="0"/>
          </a:p>
          <a:p>
            <a:r>
              <a:rPr lang="en-US" sz="2400" i="1" dirty="0"/>
              <a:t>“All customer identifying information has been removed; all that remains are ratings and dates … only a small sample was included, and that data was subject to perturbation”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71FE7C-CC96-1EA4-87DD-9DCB21E76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361" y="2395203"/>
            <a:ext cx="3975850" cy="2891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868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4D9A5-5D03-5912-F5F2-90F673A90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brief digression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BD726-88CE-5524-27FB-63611F3BA6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065806" cy="4351338"/>
          </a:xfrm>
        </p:spPr>
        <p:txBody>
          <a:bodyPr>
            <a:normAutofit/>
          </a:bodyPr>
          <a:lstStyle/>
          <a:p>
            <a:r>
              <a:rPr lang="en-US" sz="2400" dirty="0"/>
              <a:t>October 1987: US Senate rejects Robert Bork’s SCOTUS nomination 42-58</a:t>
            </a:r>
          </a:p>
          <a:p>
            <a:r>
              <a:rPr lang="en-US" sz="2400" dirty="0"/>
              <a:t>Ted Kennedy, 45 minutes after Bork’s nomination:</a:t>
            </a:r>
          </a:p>
          <a:p>
            <a:pPr marL="457200" lvl="1" indent="0">
              <a:buNone/>
            </a:pPr>
            <a:r>
              <a:rPr lang="en-US" sz="1800" i="1" dirty="0"/>
              <a:t>“Robert Bork's America is a land in which women would be forced into back-alley abortions, blacks would sit at segregated lunch counters, rogue police could break down citizens' doors in midnight raids, and schoolchildren could not be taught about evolution…”</a:t>
            </a:r>
          </a:p>
          <a:p>
            <a:r>
              <a:rPr lang="en-US" sz="2200" dirty="0"/>
              <a:t>During the debate, Bork’s video rental history was leaked to the press</a:t>
            </a:r>
          </a:p>
        </p:txBody>
      </p:sp>
      <p:pic>
        <p:nvPicPr>
          <p:cNvPr id="2050" name="Picture 2" descr="Bork fight still still haunts Supreme Court confirmation process">
            <a:extLst>
              <a:ext uri="{FF2B5EF4-FFF2-40B4-BE49-F238E27FC236}">
                <a16:creationId xmlns:a16="http://schemas.microsoft.com/office/drawing/2014/main" id="{3B18BFEF-47EA-A3EA-82CB-0E99D9DCEF7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812" y="2301572"/>
            <a:ext cx="4320988" cy="2834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FA5C74-70B5-790C-AA63-F7FE07954507}"/>
              </a:ext>
            </a:extLst>
          </p:cNvPr>
          <p:cNvSpPr txBox="1"/>
          <p:nvPr/>
        </p:nvSpPr>
        <p:spPr>
          <a:xfrm>
            <a:off x="8229600" y="5136401"/>
            <a:ext cx="32530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Image source: Associated Press, 1987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C651A5-7653-07E7-61B4-59D0FDD45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401" y="2301571"/>
            <a:ext cx="5039697" cy="283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383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F831A-C05B-3D47-7097-95B75E785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Damning revelations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1773064-7348-BD14-49B4-46E2F3608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148" y="2197050"/>
            <a:ext cx="2095500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CCED5A94-DBAB-43BA-F7B9-D286D9CD1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076" y="2187525"/>
            <a:ext cx="2095500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C4B4901A-8B0B-8C79-4527-95834D136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004" y="2158950"/>
            <a:ext cx="2095500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D0D43722-F5D1-13DB-4B39-D59C5534C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6932" y="2197050"/>
            <a:ext cx="2095500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7310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C26DD-457E-4EB6-4622-76A7C2189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Privacy Protection Act of 1988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31B7A-3B58-6D27-164C-D0D6F20C8D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678431" cy="4351338"/>
          </a:xfrm>
        </p:spPr>
        <p:txBody>
          <a:bodyPr>
            <a:normAutofit/>
          </a:bodyPr>
          <a:lstStyle/>
          <a:p>
            <a:r>
              <a:rPr lang="en-US" sz="2000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18 U.S. Code § 2710 –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Verdana" panose="020B0604030504040204" pitchFamily="34" charset="0"/>
              </a:rPr>
              <a:t>   </a:t>
            </a:r>
            <a:r>
              <a:rPr lang="en-US" sz="1800" b="1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Wrongful disclosure of video tape rental or sale records</a:t>
            </a:r>
            <a:endParaRPr lang="en-US" sz="2000" b="1" i="0" dirty="0">
              <a:solidFill>
                <a:srgbClr val="333333"/>
              </a:solidFill>
              <a:effectLst/>
              <a:latin typeface="Verdana" panose="020B0604030504040204" pitchFamily="34" charset="0"/>
            </a:endParaRPr>
          </a:p>
          <a:p>
            <a:r>
              <a:rPr lang="en-US" sz="2000" b="1" i="1" dirty="0"/>
              <a:t>(b)(1)</a:t>
            </a:r>
            <a:r>
              <a:rPr lang="en-US" sz="2000" i="1" dirty="0"/>
              <a:t> A </a:t>
            </a:r>
            <a:r>
              <a:rPr lang="en-US" sz="2000" dirty="0">
                <a:solidFill>
                  <a:srgbClr val="FF0000"/>
                </a:solidFill>
              </a:rPr>
              <a:t>video tape service provider</a:t>
            </a:r>
            <a:r>
              <a:rPr lang="en-US" sz="2000" i="1" dirty="0"/>
              <a:t> who knowingly discloses, to any person, </a:t>
            </a:r>
            <a:r>
              <a:rPr lang="en-US" sz="2000" dirty="0">
                <a:solidFill>
                  <a:srgbClr val="FF0000"/>
                </a:solidFill>
              </a:rPr>
              <a:t>personally identifiable information</a:t>
            </a:r>
            <a:r>
              <a:rPr lang="en-US" sz="2000" i="1" dirty="0"/>
              <a:t> concerning any </a:t>
            </a:r>
            <a:r>
              <a:rPr lang="en-US" sz="2000" dirty="0">
                <a:solidFill>
                  <a:srgbClr val="FF0000"/>
                </a:solidFill>
              </a:rPr>
              <a:t>consumer</a:t>
            </a:r>
            <a:r>
              <a:rPr lang="en-US" sz="2000" i="1" dirty="0"/>
              <a:t> of such provider shall be liable to the aggrieved person for the relief provided in subsection </a:t>
            </a:r>
            <a:r>
              <a:rPr lang="en-US" sz="2000" b="1" i="1" dirty="0"/>
              <a:t>(c)</a:t>
            </a:r>
            <a:r>
              <a:rPr lang="en-US" sz="2000" i="1" dirty="0"/>
              <a:t>.</a:t>
            </a:r>
          </a:p>
          <a:p>
            <a:r>
              <a:rPr lang="en-US" sz="2000" b="1" i="1" dirty="0"/>
              <a:t>(c)(2)</a:t>
            </a:r>
            <a:r>
              <a:rPr lang="en-US" sz="2000" i="1" dirty="0"/>
              <a:t> The court may award—actual damages but not less than liquidated damages in an amount of $2,500; punitive damages; reasonable attorneys’ fees; and such other preliminary and equitable relief as the court deems appropriate.</a:t>
            </a:r>
            <a:endParaRPr lang="en-US" sz="1600" i="1" dirty="0"/>
          </a:p>
          <a:p>
            <a:endParaRPr lang="en-US" sz="2000" i="1" dirty="0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E70A8E35-DE03-6780-D7B9-34AA36625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4730" y="1481699"/>
            <a:ext cx="2894479" cy="4091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8350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8A5F9-6FB1-336D-6B40-8FBA870E55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426844"/>
            <a:ext cx="7157383" cy="1386767"/>
          </a:xfrm>
        </p:spPr>
        <p:txBody>
          <a:bodyPr>
            <a:normAutofit/>
          </a:bodyPr>
          <a:lstStyle/>
          <a:p>
            <a:r>
              <a:rPr lang="en-US" sz="2000" b="1" dirty="0"/>
              <a:t>Recall:</a:t>
            </a:r>
            <a:r>
              <a:rPr lang="en-US" sz="2000" dirty="0"/>
              <a:t> </a:t>
            </a:r>
            <a:r>
              <a:rPr lang="en-US" sz="2000" i="1" dirty="0"/>
              <a:t>“All customer identifying information has been removed; all that remains are ratings and dates … only a small sample was included, and that data was subject to perturbation”</a:t>
            </a:r>
          </a:p>
          <a:p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354727-4B09-8298-53D7-51D29A71D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631" y="424456"/>
            <a:ext cx="6390081" cy="169277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7FEB5A8B-97C6-F207-1C23-5A4700345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734106"/>
              </p:ext>
            </p:extLst>
          </p:nvPr>
        </p:nvGraphicFramePr>
        <p:xfrm>
          <a:off x="611045" y="3909232"/>
          <a:ext cx="10890460" cy="15697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089046">
                  <a:extLst>
                    <a:ext uri="{9D8B030D-6E8A-4147-A177-3AD203B41FA5}">
                      <a16:colId xmlns:a16="http://schemas.microsoft.com/office/drawing/2014/main" val="2132119611"/>
                    </a:ext>
                  </a:extLst>
                </a:gridCol>
                <a:gridCol w="1089046">
                  <a:extLst>
                    <a:ext uri="{9D8B030D-6E8A-4147-A177-3AD203B41FA5}">
                      <a16:colId xmlns:a16="http://schemas.microsoft.com/office/drawing/2014/main" val="3349697209"/>
                    </a:ext>
                  </a:extLst>
                </a:gridCol>
                <a:gridCol w="1089046">
                  <a:extLst>
                    <a:ext uri="{9D8B030D-6E8A-4147-A177-3AD203B41FA5}">
                      <a16:colId xmlns:a16="http://schemas.microsoft.com/office/drawing/2014/main" val="2181491307"/>
                    </a:ext>
                  </a:extLst>
                </a:gridCol>
                <a:gridCol w="1089046">
                  <a:extLst>
                    <a:ext uri="{9D8B030D-6E8A-4147-A177-3AD203B41FA5}">
                      <a16:colId xmlns:a16="http://schemas.microsoft.com/office/drawing/2014/main" val="3153213966"/>
                    </a:ext>
                  </a:extLst>
                </a:gridCol>
                <a:gridCol w="1089046">
                  <a:extLst>
                    <a:ext uri="{9D8B030D-6E8A-4147-A177-3AD203B41FA5}">
                      <a16:colId xmlns:a16="http://schemas.microsoft.com/office/drawing/2014/main" val="3694078136"/>
                    </a:ext>
                  </a:extLst>
                </a:gridCol>
                <a:gridCol w="1089046">
                  <a:extLst>
                    <a:ext uri="{9D8B030D-6E8A-4147-A177-3AD203B41FA5}">
                      <a16:colId xmlns:a16="http://schemas.microsoft.com/office/drawing/2014/main" val="3135358107"/>
                    </a:ext>
                  </a:extLst>
                </a:gridCol>
                <a:gridCol w="1089046">
                  <a:extLst>
                    <a:ext uri="{9D8B030D-6E8A-4147-A177-3AD203B41FA5}">
                      <a16:colId xmlns:a16="http://schemas.microsoft.com/office/drawing/2014/main" val="2416772859"/>
                    </a:ext>
                  </a:extLst>
                </a:gridCol>
                <a:gridCol w="1089046">
                  <a:extLst>
                    <a:ext uri="{9D8B030D-6E8A-4147-A177-3AD203B41FA5}">
                      <a16:colId xmlns:a16="http://schemas.microsoft.com/office/drawing/2014/main" val="1445709980"/>
                    </a:ext>
                  </a:extLst>
                </a:gridCol>
                <a:gridCol w="1089046">
                  <a:extLst>
                    <a:ext uri="{9D8B030D-6E8A-4147-A177-3AD203B41FA5}">
                      <a16:colId xmlns:a16="http://schemas.microsoft.com/office/drawing/2014/main" val="1695014742"/>
                    </a:ext>
                  </a:extLst>
                </a:gridCol>
                <a:gridCol w="1089046">
                  <a:extLst>
                    <a:ext uri="{9D8B030D-6E8A-4147-A177-3AD203B41FA5}">
                      <a16:colId xmlns:a16="http://schemas.microsoft.com/office/drawing/2014/main" val="11937391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The Godfather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12 Angry Men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Jurassic</a:t>
                      </a:r>
                    </a:p>
                    <a:p>
                      <a:pPr algn="ctr"/>
                      <a:r>
                        <a:rPr lang="en-US" sz="1200" dirty="0"/>
                        <a:t>Park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Les Chiens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Bye </a:t>
                      </a:r>
                      <a:r>
                        <a:rPr lang="en-US" sz="1200" dirty="0" err="1"/>
                        <a:t>Bye</a:t>
                      </a:r>
                      <a:r>
                        <a:rPr lang="en-US" sz="1200" dirty="0"/>
                        <a:t> Monkey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/>
                        <a:t>Themroc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Sumo Do, Sumo Don’t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Spies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048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User1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262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User2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2450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User3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733680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FF1C1F0C-0170-509B-3F03-59F44EFC8640}"/>
              </a:ext>
            </a:extLst>
          </p:cNvPr>
          <p:cNvGrpSpPr/>
          <p:nvPr/>
        </p:nvGrpSpPr>
        <p:grpSpPr>
          <a:xfrm>
            <a:off x="1705292" y="5514275"/>
            <a:ext cx="3243738" cy="564803"/>
            <a:chOff x="1705292" y="5514275"/>
            <a:chExt cx="3243738" cy="564803"/>
          </a:xfrm>
        </p:grpSpPr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608BBDBD-242A-8A73-DCDA-98DBB4AFE6D5}"/>
                </a:ext>
              </a:extLst>
            </p:cNvPr>
            <p:cNvSpPr/>
            <p:nvPr/>
          </p:nvSpPr>
          <p:spPr>
            <a:xfrm rot="16200000">
              <a:off x="3214486" y="4005081"/>
              <a:ext cx="225349" cy="3243738"/>
            </a:xfrm>
            <a:custGeom>
              <a:avLst/>
              <a:gdLst>
                <a:gd name="csX0" fmla="*/ 225349 w 225349"/>
                <a:gd name="csY0" fmla="*/ 3243738 h 3243738"/>
                <a:gd name="csX1" fmla="*/ 112674 w 225349"/>
                <a:gd name="csY1" fmla="*/ 3224960 h 3243738"/>
                <a:gd name="csX2" fmla="*/ 112675 w 225349"/>
                <a:gd name="csY2" fmla="*/ 1640647 h 3243738"/>
                <a:gd name="csX3" fmla="*/ 0 w 225349"/>
                <a:gd name="csY3" fmla="*/ 1621869 h 3243738"/>
                <a:gd name="csX4" fmla="*/ 112675 w 225349"/>
                <a:gd name="csY4" fmla="*/ 1603091 h 3243738"/>
                <a:gd name="csX5" fmla="*/ 112675 w 225349"/>
                <a:gd name="csY5" fmla="*/ 18778 h 3243738"/>
                <a:gd name="csX6" fmla="*/ 225350 w 225349"/>
                <a:gd name="csY6" fmla="*/ 0 h 3243738"/>
                <a:gd name="csX7" fmla="*/ 225349 w 225349"/>
                <a:gd name="csY7" fmla="*/ 3243738 h 3243738"/>
                <a:gd name="csX0" fmla="*/ 225349 w 225349"/>
                <a:gd name="csY0" fmla="*/ 3243738 h 3243738"/>
                <a:gd name="csX1" fmla="*/ 112674 w 225349"/>
                <a:gd name="csY1" fmla="*/ 3224960 h 3243738"/>
                <a:gd name="csX2" fmla="*/ 112675 w 225349"/>
                <a:gd name="csY2" fmla="*/ 1640647 h 3243738"/>
                <a:gd name="csX3" fmla="*/ 0 w 225349"/>
                <a:gd name="csY3" fmla="*/ 1621869 h 3243738"/>
                <a:gd name="csX4" fmla="*/ 112675 w 225349"/>
                <a:gd name="csY4" fmla="*/ 1603091 h 3243738"/>
                <a:gd name="csX5" fmla="*/ 112675 w 225349"/>
                <a:gd name="csY5" fmla="*/ 18778 h 3243738"/>
                <a:gd name="csX6" fmla="*/ 225350 w 225349"/>
                <a:gd name="csY6" fmla="*/ 0 h 32437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25349" h="3243738" stroke="0" extrusionOk="0">
                  <a:moveTo>
                    <a:pt x="225349" y="3243738"/>
                  </a:moveTo>
                  <a:cubicBezTo>
                    <a:pt x="165127" y="3243991"/>
                    <a:pt x="112953" y="3234227"/>
                    <a:pt x="112674" y="3224960"/>
                  </a:cubicBezTo>
                  <a:cubicBezTo>
                    <a:pt x="48629" y="2674079"/>
                    <a:pt x="75290" y="2146555"/>
                    <a:pt x="112675" y="1640647"/>
                  </a:cubicBezTo>
                  <a:cubicBezTo>
                    <a:pt x="114962" y="1627072"/>
                    <a:pt x="66043" y="1621427"/>
                    <a:pt x="0" y="1621869"/>
                  </a:cubicBezTo>
                  <a:cubicBezTo>
                    <a:pt x="62459" y="1621603"/>
                    <a:pt x="111831" y="1614191"/>
                    <a:pt x="112675" y="1603091"/>
                  </a:cubicBezTo>
                  <a:cubicBezTo>
                    <a:pt x="4881" y="1243482"/>
                    <a:pt x="140271" y="309767"/>
                    <a:pt x="112675" y="18778"/>
                  </a:cubicBezTo>
                  <a:cubicBezTo>
                    <a:pt x="112968" y="10066"/>
                    <a:pt x="157014" y="-5939"/>
                    <a:pt x="225350" y="0"/>
                  </a:cubicBezTo>
                  <a:cubicBezTo>
                    <a:pt x="136888" y="1044488"/>
                    <a:pt x="330896" y="2193879"/>
                    <a:pt x="225349" y="3243738"/>
                  </a:cubicBezTo>
                  <a:close/>
                </a:path>
                <a:path w="225349" h="3243738" fill="none" extrusionOk="0">
                  <a:moveTo>
                    <a:pt x="225349" y="3243738"/>
                  </a:moveTo>
                  <a:cubicBezTo>
                    <a:pt x="163625" y="3243598"/>
                    <a:pt x="112328" y="3235381"/>
                    <a:pt x="112674" y="3224960"/>
                  </a:cubicBezTo>
                  <a:cubicBezTo>
                    <a:pt x="75456" y="2617171"/>
                    <a:pt x="149390" y="2131701"/>
                    <a:pt x="112675" y="1640647"/>
                  </a:cubicBezTo>
                  <a:cubicBezTo>
                    <a:pt x="111939" y="1630946"/>
                    <a:pt x="67291" y="1629138"/>
                    <a:pt x="0" y="1621869"/>
                  </a:cubicBezTo>
                  <a:cubicBezTo>
                    <a:pt x="61764" y="1623493"/>
                    <a:pt x="113632" y="1612615"/>
                    <a:pt x="112675" y="1603091"/>
                  </a:cubicBezTo>
                  <a:cubicBezTo>
                    <a:pt x="214832" y="1084418"/>
                    <a:pt x="129067" y="253502"/>
                    <a:pt x="112675" y="18778"/>
                  </a:cubicBezTo>
                  <a:cubicBezTo>
                    <a:pt x="106447" y="8398"/>
                    <a:pt x="156681" y="5522"/>
                    <a:pt x="225350" y="0"/>
                  </a:cubicBezTo>
                </a:path>
                <a:path w="225349" h="3243738" fill="none" stroke="0" extrusionOk="0">
                  <a:moveTo>
                    <a:pt x="225349" y="3243738"/>
                  </a:moveTo>
                  <a:cubicBezTo>
                    <a:pt x="162156" y="3242848"/>
                    <a:pt x="112887" y="3235334"/>
                    <a:pt x="112674" y="3224960"/>
                  </a:cubicBezTo>
                  <a:cubicBezTo>
                    <a:pt x="71629" y="2666830"/>
                    <a:pt x="98361" y="2093037"/>
                    <a:pt x="112675" y="1640647"/>
                  </a:cubicBezTo>
                  <a:cubicBezTo>
                    <a:pt x="113952" y="1638346"/>
                    <a:pt x="63182" y="1618130"/>
                    <a:pt x="0" y="1621869"/>
                  </a:cubicBezTo>
                  <a:cubicBezTo>
                    <a:pt x="61218" y="1621743"/>
                    <a:pt x="114504" y="1612521"/>
                    <a:pt x="112675" y="1603091"/>
                  </a:cubicBezTo>
                  <a:cubicBezTo>
                    <a:pt x="99354" y="865627"/>
                    <a:pt x="184119" y="621605"/>
                    <a:pt x="112675" y="18778"/>
                  </a:cubicBezTo>
                  <a:cubicBezTo>
                    <a:pt x="115749" y="9627"/>
                    <a:pt x="161834" y="566"/>
                    <a:pt x="225350" y="0"/>
                  </a:cubicBezTo>
                </a:path>
              </a:pathLst>
            </a:custGeom>
            <a:ln w="19050">
              <a:extLst>
                <a:ext uri="{C807C97D-BFC1-408E-A445-0C87EB9F89A2}">
                  <ask:lineSketchStyleProps xmlns:ask="http://schemas.microsoft.com/office/drawing/2018/sketchyshapes" sd="1526066285">
                    <a:prstGeom prst="leftBrac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8CF4C4-E7AC-6D71-6D30-025E90BCA1E1}"/>
                </a:ext>
              </a:extLst>
            </p:cNvPr>
            <p:cNvSpPr txBox="1"/>
            <p:nvPr/>
          </p:nvSpPr>
          <p:spPr>
            <a:xfrm>
              <a:off x="2322654" y="5709746"/>
              <a:ext cx="200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Commonly Rated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05A27E3-80F8-8B45-99BA-F0A54496B0B0}"/>
              </a:ext>
            </a:extLst>
          </p:cNvPr>
          <p:cNvGrpSpPr/>
          <p:nvPr/>
        </p:nvGrpSpPr>
        <p:grpSpPr>
          <a:xfrm>
            <a:off x="6056275" y="5514275"/>
            <a:ext cx="5445231" cy="565617"/>
            <a:chOff x="6056275" y="5514275"/>
            <a:chExt cx="5445231" cy="565617"/>
          </a:xfrm>
        </p:grpSpPr>
        <p:sp>
          <p:nvSpPr>
            <p:cNvPr id="11" name="Left Brace 10">
              <a:extLst>
                <a:ext uri="{FF2B5EF4-FFF2-40B4-BE49-F238E27FC236}">
                  <a16:creationId xmlns:a16="http://schemas.microsoft.com/office/drawing/2014/main" id="{3ABBE9CA-5B8B-C8D1-5783-D411B9FC7E2D}"/>
                </a:ext>
              </a:extLst>
            </p:cNvPr>
            <p:cNvSpPr/>
            <p:nvPr/>
          </p:nvSpPr>
          <p:spPr>
            <a:xfrm rot="16200000">
              <a:off x="8666216" y="2904334"/>
              <a:ext cx="225349" cy="5445231"/>
            </a:xfrm>
            <a:custGeom>
              <a:avLst/>
              <a:gdLst>
                <a:gd name="csX0" fmla="*/ 225349 w 225349"/>
                <a:gd name="csY0" fmla="*/ 5445231 h 5445231"/>
                <a:gd name="csX1" fmla="*/ 112674 w 225349"/>
                <a:gd name="csY1" fmla="*/ 5426453 h 5445231"/>
                <a:gd name="csX2" fmla="*/ 112675 w 225349"/>
                <a:gd name="csY2" fmla="*/ 2741394 h 5445231"/>
                <a:gd name="csX3" fmla="*/ 0 w 225349"/>
                <a:gd name="csY3" fmla="*/ 2722616 h 5445231"/>
                <a:gd name="csX4" fmla="*/ 112675 w 225349"/>
                <a:gd name="csY4" fmla="*/ 2703838 h 5445231"/>
                <a:gd name="csX5" fmla="*/ 112675 w 225349"/>
                <a:gd name="csY5" fmla="*/ 18778 h 5445231"/>
                <a:gd name="csX6" fmla="*/ 225350 w 225349"/>
                <a:gd name="csY6" fmla="*/ 0 h 5445231"/>
                <a:gd name="csX7" fmla="*/ 225349 w 225349"/>
                <a:gd name="csY7" fmla="*/ 5445231 h 5445231"/>
                <a:gd name="csX0" fmla="*/ 225349 w 225349"/>
                <a:gd name="csY0" fmla="*/ 5445231 h 5445231"/>
                <a:gd name="csX1" fmla="*/ 112674 w 225349"/>
                <a:gd name="csY1" fmla="*/ 5426453 h 5445231"/>
                <a:gd name="csX2" fmla="*/ 112675 w 225349"/>
                <a:gd name="csY2" fmla="*/ 2741394 h 5445231"/>
                <a:gd name="csX3" fmla="*/ 0 w 225349"/>
                <a:gd name="csY3" fmla="*/ 2722616 h 5445231"/>
                <a:gd name="csX4" fmla="*/ 112675 w 225349"/>
                <a:gd name="csY4" fmla="*/ 2703838 h 5445231"/>
                <a:gd name="csX5" fmla="*/ 112675 w 225349"/>
                <a:gd name="csY5" fmla="*/ 18778 h 5445231"/>
                <a:gd name="csX6" fmla="*/ 225350 w 225349"/>
                <a:gd name="csY6" fmla="*/ 0 h 54452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25349" h="5445231" stroke="0" extrusionOk="0">
                  <a:moveTo>
                    <a:pt x="225349" y="5445231"/>
                  </a:moveTo>
                  <a:cubicBezTo>
                    <a:pt x="165127" y="5445484"/>
                    <a:pt x="112953" y="5435720"/>
                    <a:pt x="112674" y="5426453"/>
                  </a:cubicBezTo>
                  <a:cubicBezTo>
                    <a:pt x="19127" y="4498164"/>
                    <a:pt x="86634" y="3620954"/>
                    <a:pt x="112675" y="2741394"/>
                  </a:cubicBezTo>
                  <a:cubicBezTo>
                    <a:pt x="114962" y="2727819"/>
                    <a:pt x="66043" y="2722174"/>
                    <a:pt x="0" y="2722616"/>
                  </a:cubicBezTo>
                  <a:cubicBezTo>
                    <a:pt x="62459" y="2722350"/>
                    <a:pt x="111831" y="2714938"/>
                    <a:pt x="112675" y="2703838"/>
                  </a:cubicBezTo>
                  <a:cubicBezTo>
                    <a:pt x="46040" y="1479779"/>
                    <a:pt x="27362" y="363247"/>
                    <a:pt x="112675" y="18778"/>
                  </a:cubicBezTo>
                  <a:cubicBezTo>
                    <a:pt x="112968" y="10066"/>
                    <a:pt x="157014" y="-5939"/>
                    <a:pt x="225350" y="0"/>
                  </a:cubicBezTo>
                  <a:cubicBezTo>
                    <a:pt x="-23132" y="1711827"/>
                    <a:pt x="547966" y="3726091"/>
                    <a:pt x="225349" y="5445231"/>
                  </a:cubicBezTo>
                  <a:close/>
                </a:path>
                <a:path w="225349" h="5445231" fill="none" extrusionOk="0">
                  <a:moveTo>
                    <a:pt x="225349" y="5445231"/>
                  </a:moveTo>
                  <a:cubicBezTo>
                    <a:pt x="163625" y="5445091"/>
                    <a:pt x="112328" y="5436874"/>
                    <a:pt x="112674" y="5426453"/>
                  </a:cubicBezTo>
                  <a:cubicBezTo>
                    <a:pt x="47967" y="4392893"/>
                    <a:pt x="165400" y="3583207"/>
                    <a:pt x="112675" y="2741394"/>
                  </a:cubicBezTo>
                  <a:cubicBezTo>
                    <a:pt x="111939" y="2731693"/>
                    <a:pt x="67291" y="2729885"/>
                    <a:pt x="0" y="2722616"/>
                  </a:cubicBezTo>
                  <a:cubicBezTo>
                    <a:pt x="61764" y="2724240"/>
                    <a:pt x="113632" y="2713362"/>
                    <a:pt x="112675" y="2703838"/>
                  </a:cubicBezTo>
                  <a:cubicBezTo>
                    <a:pt x="182844" y="1747662"/>
                    <a:pt x="275724" y="320334"/>
                    <a:pt x="112675" y="18778"/>
                  </a:cubicBezTo>
                  <a:cubicBezTo>
                    <a:pt x="106447" y="8398"/>
                    <a:pt x="156681" y="5522"/>
                    <a:pt x="225350" y="0"/>
                  </a:cubicBezTo>
                </a:path>
                <a:path w="225349" h="5445231" fill="none" stroke="0" extrusionOk="0">
                  <a:moveTo>
                    <a:pt x="225349" y="5445231"/>
                  </a:moveTo>
                  <a:cubicBezTo>
                    <a:pt x="162156" y="5444341"/>
                    <a:pt x="112887" y="5436827"/>
                    <a:pt x="112674" y="5426453"/>
                  </a:cubicBezTo>
                  <a:cubicBezTo>
                    <a:pt x="102540" y="4524019"/>
                    <a:pt x="99298" y="3565654"/>
                    <a:pt x="112675" y="2741394"/>
                  </a:cubicBezTo>
                  <a:cubicBezTo>
                    <a:pt x="113952" y="2739093"/>
                    <a:pt x="63182" y="2718877"/>
                    <a:pt x="0" y="2722616"/>
                  </a:cubicBezTo>
                  <a:cubicBezTo>
                    <a:pt x="61218" y="2722490"/>
                    <a:pt x="114504" y="2713268"/>
                    <a:pt x="112675" y="2703838"/>
                  </a:cubicBezTo>
                  <a:cubicBezTo>
                    <a:pt x="33725" y="1837019"/>
                    <a:pt x="210637" y="800239"/>
                    <a:pt x="112675" y="18778"/>
                  </a:cubicBezTo>
                  <a:cubicBezTo>
                    <a:pt x="115749" y="9627"/>
                    <a:pt x="161834" y="566"/>
                    <a:pt x="225350" y="0"/>
                  </a:cubicBezTo>
                </a:path>
              </a:pathLst>
            </a:custGeom>
            <a:ln w="19050">
              <a:extLst>
                <a:ext uri="{C807C97D-BFC1-408E-A445-0C87EB9F89A2}">
                  <ask:lineSketchStyleProps xmlns:ask="http://schemas.microsoft.com/office/drawing/2018/sketchyshapes" sd="1526066285">
                    <a:prstGeom prst="leftBrace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0BB134-3EF0-5D84-CDD3-B16445EA8030}"/>
                </a:ext>
              </a:extLst>
            </p:cNvPr>
            <p:cNvSpPr txBox="1"/>
            <p:nvPr/>
          </p:nvSpPr>
          <p:spPr>
            <a:xfrm>
              <a:off x="7926092" y="5710560"/>
              <a:ext cx="17055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More Obscure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542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6C4EF-DB09-255F-A4B4-D0E63CC79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and identity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EFA0ED-4F52-F9A4-241E-6E83A8ED335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6186646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000" i="1" dirty="0"/>
                  <a:t>Entropy</a:t>
                </a:r>
                <a:r>
                  <a:rPr lang="en-US" sz="2000" dirty="0"/>
                  <a:t> is a measure of the uncertainty about a random outcome</a:t>
                </a:r>
              </a:p>
              <a:p>
                <a:r>
                  <a:rPr lang="en-US" sz="2000" dirty="0"/>
                  <a:t>Defined as the expected negative logarithm of the probability, measured over all outcomes</a:t>
                </a:r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𝐄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[−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Without any prior information about the outcome, how many bits do we need to uniquely identify a randomly-selected…</a:t>
                </a:r>
              </a:p>
              <a:p>
                <a:pPr lvl="1"/>
                <a:r>
                  <a:rPr lang="en-US" sz="2000" dirty="0"/>
                  <a:t>person on earth?</a:t>
                </a:r>
              </a:p>
              <a:p>
                <a:pPr marL="914400" lvl="2" indent="0">
                  <a:buNone/>
                </a:pPr>
                <a:r>
                  <a:rPr lang="en-US" sz="1800" dirty="0"/>
                  <a:t>log(7.75e9) = 32.9 bits</a:t>
                </a:r>
              </a:p>
              <a:p>
                <a:pPr lvl="1"/>
                <a:r>
                  <a:rPr lang="en-US" sz="2000" dirty="0"/>
                  <a:t>subject in the Netflix dataset?</a:t>
                </a:r>
              </a:p>
              <a:p>
                <a:pPr marL="914400" lvl="2" indent="0">
                  <a:buNone/>
                </a:pPr>
                <a:r>
                  <a:rPr lang="en-US" sz="1800" dirty="0"/>
                  <a:t>log(500000) = 18.9 bits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EFA0ED-4F52-F9A4-241E-6E83A8ED33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6186646" cy="4351338"/>
              </a:xfrm>
              <a:blipFill>
                <a:blip r:embed="rId2"/>
                <a:stretch>
                  <a:fillRect l="-888" t="-1261" r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250BEFE-F7C3-FBBA-B33C-9B1B84119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195" y="1303361"/>
            <a:ext cx="3443226" cy="468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520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8E6DB-1CCF-CEA7-3857-0D8CDA54A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private information anyway?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F7C3E-A0F9-540B-80A0-9C157B37CC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060971" cy="4351338"/>
          </a:xfrm>
        </p:spPr>
        <p:txBody>
          <a:bodyPr>
            <a:normAutofit/>
          </a:bodyPr>
          <a:lstStyle/>
          <a:p>
            <a:r>
              <a:rPr lang="en-US" sz="2000" dirty="0"/>
              <a:t>Both Netflix and the law refer to </a:t>
            </a:r>
            <a:r>
              <a:rPr lang="en-US" sz="2000" i="1" dirty="0"/>
              <a:t>personal identifying/identifiable information</a:t>
            </a:r>
            <a:endParaRPr lang="en-US" sz="2000" dirty="0"/>
          </a:p>
          <a:p>
            <a:r>
              <a:rPr lang="en-US" sz="2000" dirty="0"/>
              <a:t>Conventionally: name, unique identifiers, address, …</a:t>
            </a:r>
          </a:p>
          <a:p>
            <a:r>
              <a:rPr lang="en-US" sz="2000" dirty="0"/>
              <a:t>Results of this attack: </a:t>
            </a:r>
            <a:r>
              <a:rPr lang="en-US" sz="2000" i="1" dirty="0"/>
              <a:t>“With 8 movie ratings (of which 2 may be completely wrong) and dates that may have a 14-day error, 99% of records are uniquely identified in the dataset. For 68%, two ratings and dates (with a 3-day error) are sufficient”</a:t>
            </a:r>
          </a:p>
          <a:p>
            <a:r>
              <a:rPr lang="en-US" sz="2000" dirty="0"/>
              <a:t>Netflix ended up settling a class-action lawsuit based on the Video Privacy Protection Act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CF8954-5FFC-25BA-8945-984D8168C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15" y="1825625"/>
            <a:ext cx="3543285" cy="389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0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833EB-484D-3A43-0A37-2B66F9672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5F3D4-3E86-BE02-2085-6344947856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Seemingly straightforward policy, surprisingly difficult to defend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Need to be methodical about:</a:t>
            </a:r>
          </a:p>
          <a:p>
            <a:pPr lvl="1"/>
            <a:r>
              <a:rPr lang="en-US" sz="2000" dirty="0"/>
              <a:t>Defining security goals</a:t>
            </a:r>
          </a:p>
          <a:p>
            <a:pPr lvl="1"/>
            <a:r>
              <a:rPr lang="en-US" sz="2000" dirty="0"/>
              <a:t>Identifying a policy</a:t>
            </a:r>
          </a:p>
          <a:p>
            <a:pPr lvl="1"/>
            <a:r>
              <a:rPr lang="en-US" sz="2000" dirty="0"/>
              <a:t>Implementing enforcement</a:t>
            </a:r>
          </a:p>
          <a:p>
            <a:pPr lvl="1"/>
            <a:r>
              <a:rPr lang="en-US" sz="2000" dirty="0"/>
              <a:t>Demonstrating results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86220-AC32-BEC1-DC8A-B01D4FE0493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i="1" dirty="0"/>
              <a:t>Sneak peek: </a:t>
            </a:r>
            <a:r>
              <a:rPr lang="en-US" sz="2000" dirty="0"/>
              <a:t>Differential Privacy</a:t>
            </a:r>
          </a:p>
          <a:p>
            <a:pPr marL="0" indent="0">
              <a:buNone/>
            </a:pPr>
            <a:endParaRPr lang="en-US" sz="2000" i="1" dirty="0"/>
          </a:p>
          <a:p>
            <a:pPr marL="0" indent="0">
              <a:buNone/>
            </a:pPr>
            <a:r>
              <a:rPr lang="en-US" sz="2000" dirty="0"/>
              <a:t>Goal: </a:t>
            </a:r>
            <a:r>
              <a:rPr lang="en-US" sz="2000" i="1" dirty="0"/>
              <a:t>A person’s risk of privacy breach should not increase because they participate</a:t>
            </a:r>
          </a:p>
          <a:p>
            <a:pPr marL="0" indent="0">
              <a:buNone/>
            </a:pPr>
            <a:r>
              <a:rPr lang="en-US" sz="2000" dirty="0"/>
              <a:t>Policy: </a:t>
            </a:r>
            <a:r>
              <a:rPr lang="en-US" sz="2000" i="1" dirty="0"/>
              <a:t>Regardless of whether someone is in the data, the output should remain about the same</a:t>
            </a:r>
          </a:p>
          <a:p>
            <a:pPr marL="0" indent="0">
              <a:buNone/>
            </a:pPr>
            <a:r>
              <a:rPr lang="en-US" sz="2000" dirty="0"/>
              <a:t>Enforcement: </a:t>
            </a:r>
            <a:r>
              <a:rPr lang="en-US" sz="2000" i="1" dirty="0"/>
              <a:t>Introduce randomness at key points in computation</a:t>
            </a:r>
          </a:p>
          <a:p>
            <a:pPr marL="0" indent="0">
              <a:buNone/>
            </a:pPr>
            <a:r>
              <a:rPr lang="en-US" sz="2000" dirty="0"/>
              <a:t>Result: </a:t>
            </a:r>
            <a:r>
              <a:rPr lang="en-US" sz="2000" i="1" dirty="0"/>
              <a:t>Provable guarantee limiting what personal data can be learned via output </a:t>
            </a:r>
          </a:p>
        </p:txBody>
      </p:sp>
    </p:spTree>
    <p:extLst>
      <p:ext uri="{BB962C8B-B14F-4D97-AF65-F5344CB8AC3E}">
        <p14:creationId xmlns:p14="http://schemas.microsoft.com/office/powerpoint/2010/main" val="2853061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A2716-B5B7-B5CF-65E1-1514898F6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37C54-B144-5CAE-2EAE-3A9D7914F8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9601562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Security from a programmer’s standpoint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We’ll cover a range of concerns</a:t>
            </a:r>
          </a:p>
          <a:p>
            <a:pPr lvl="1"/>
            <a:r>
              <a:rPr lang="en-US" sz="2000" dirty="0"/>
              <a:t>Safety: </a:t>
            </a:r>
            <a:r>
              <a:rPr lang="en-US" sz="2000" i="1" dirty="0"/>
              <a:t>The code will never do something we deem “bad”</a:t>
            </a:r>
          </a:p>
          <a:p>
            <a:pPr lvl="1"/>
            <a:r>
              <a:rPr lang="en-US" sz="2000" dirty="0"/>
              <a:t>Isolation: </a:t>
            </a:r>
            <a:r>
              <a:rPr lang="en-US" sz="2000" i="1" dirty="0"/>
              <a:t>Untrusted code and data can’t affect important state</a:t>
            </a:r>
          </a:p>
          <a:p>
            <a:pPr lvl="1"/>
            <a:r>
              <a:rPr lang="en-US" sz="2000" dirty="0"/>
              <a:t>Information Flow: </a:t>
            </a:r>
            <a:r>
              <a:rPr lang="en-US" sz="2000" i="1" dirty="0"/>
              <a:t>Confidential data remains that way</a:t>
            </a:r>
            <a:endParaRPr lang="en-US" sz="2000" dirty="0"/>
          </a:p>
          <a:p>
            <a:pPr lvl="1"/>
            <a:r>
              <a:rPr lang="en-US" sz="2000" dirty="0"/>
              <a:t>Privacy: </a:t>
            </a:r>
            <a:r>
              <a:rPr lang="en-US" sz="2000" i="1" dirty="0"/>
              <a:t>Control over peoples’ data and how it’s used</a:t>
            </a:r>
          </a:p>
          <a:p>
            <a:pPr lvl="1"/>
            <a:r>
              <a:rPr lang="en-US" sz="2000" dirty="0"/>
              <a:t>Authorization: </a:t>
            </a:r>
            <a:r>
              <a:rPr lang="en-US" sz="2000" i="1" dirty="0"/>
              <a:t>Only designated actors/code can obtain rights</a:t>
            </a:r>
          </a:p>
          <a:p>
            <a:pPr lvl="1"/>
            <a:r>
              <a:rPr lang="en-US" sz="2000" dirty="0"/>
              <a:t>Trust: </a:t>
            </a:r>
            <a:r>
              <a:rPr lang="en-US" sz="2000" i="1" dirty="0"/>
              <a:t>Leverage a small base to establish trust in a complete system</a:t>
            </a:r>
          </a:p>
          <a:p>
            <a:pPr marL="0" indent="0">
              <a:buNone/>
            </a:pPr>
            <a:r>
              <a:rPr lang="en-US" sz="2400" dirty="0"/>
              <a:t>Recurring themes; ways of…</a:t>
            </a:r>
          </a:p>
          <a:p>
            <a:pPr lvl="1"/>
            <a:r>
              <a:rPr lang="en-US" sz="2000" dirty="0"/>
              <a:t>specifying computations that are secure, i.e. </a:t>
            </a:r>
            <a:r>
              <a:rPr lang="en-US" sz="2000" i="1" dirty="0"/>
              <a:t>policy</a:t>
            </a:r>
          </a:p>
          <a:p>
            <a:pPr lvl="1"/>
            <a:r>
              <a:rPr lang="en-US" sz="2000" dirty="0"/>
              <a:t>ensuring that code meets policy, i.e. </a:t>
            </a:r>
            <a:r>
              <a:rPr lang="en-US" sz="2000" i="1" dirty="0"/>
              <a:t>enforcement</a:t>
            </a:r>
          </a:p>
          <a:p>
            <a:pPr lvl="1"/>
            <a:r>
              <a:rPr lang="en-US" sz="2000" dirty="0"/>
              <a:t>connecting the two rigorously, i.e. </a:t>
            </a:r>
            <a:r>
              <a:rPr lang="en-US" sz="2000" i="1" dirty="0"/>
              <a:t>semantics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0315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67190-FE10-D3F9-AE93-91E3E56A4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and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14C52-A6FA-3A74-77E8-F16EBD8F1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6709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Why is this a logic and languages elective?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Precise ways to write down policies</a:t>
            </a:r>
          </a:p>
          <a:p>
            <a:pPr lvl="1"/>
            <a:r>
              <a:rPr lang="en-US" sz="2000" dirty="0"/>
              <a:t>Types, logical formulas, domain-specific languages</a:t>
            </a:r>
          </a:p>
          <a:p>
            <a:pPr lvl="1"/>
            <a:r>
              <a:rPr lang="en-US" sz="2000" dirty="0"/>
              <a:t>Correctness and security go hand-in-hand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2400" dirty="0"/>
              <a:t>Enforcing them </a:t>
            </a:r>
            <a:r>
              <a:rPr lang="en-US" sz="2400" i="1" dirty="0"/>
              <a:t>rigorously</a:t>
            </a:r>
            <a:endParaRPr lang="en-US" sz="2400" dirty="0"/>
          </a:p>
          <a:p>
            <a:pPr lvl="1"/>
            <a:r>
              <a:rPr lang="en-US" sz="2000" dirty="0"/>
              <a:t>Static: verification, type checking</a:t>
            </a:r>
          </a:p>
          <a:p>
            <a:pPr lvl="1"/>
            <a:r>
              <a:rPr lang="en-US" sz="2000" dirty="0"/>
              <a:t>Dynamic: runtime monitors, code instrumentation</a:t>
            </a:r>
          </a:p>
          <a:p>
            <a:pPr lvl="1"/>
            <a:r>
              <a:rPr lang="en-US" sz="2000" dirty="0"/>
              <a:t>Either way, prove that the policy won’t be violated</a:t>
            </a:r>
          </a:p>
        </p:txBody>
      </p:sp>
    </p:spTree>
    <p:extLst>
      <p:ext uri="{BB962C8B-B14F-4D97-AF65-F5344CB8AC3E}">
        <p14:creationId xmlns:p14="http://schemas.microsoft.com/office/powerpoint/2010/main" val="331743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2D520-47EF-50C8-9647-86DA758F0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A33D7-3142-C2FC-F630-E77C2133A0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894284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After taking this course, you should:</a:t>
            </a:r>
          </a:p>
          <a:p>
            <a:pPr lvl="1"/>
            <a:r>
              <a:rPr lang="en-US" sz="2000" dirty="0"/>
              <a:t>Be able to identify, formalize, and implement a range of practical security &amp; privacy policies</a:t>
            </a:r>
          </a:p>
          <a:p>
            <a:pPr lvl="1"/>
            <a:r>
              <a:rPr lang="en-US" sz="2000" dirty="0"/>
              <a:t>Understand the tradeoffs of different approaches to security &amp; privacy, and reason about which tradeoffs are justified</a:t>
            </a:r>
          </a:p>
          <a:p>
            <a:pPr lvl="1"/>
            <a:r>
              <a:rPr lang="en-US" sz="2000" dirty="0"/>
              <a:t>Understand how general principles like least privilege, roots of trust, and complete mediation play a role in building defenses</a:t>
            </a:r>
          </a:p>
          <a:p>
            <a:pPr lvl="1"/>
            <a:r>
              <a:rPr lang="en-US" sz="2000" dirty="0"/>
              <a:t>Be able to argue rigorously about software security mechanisms</a:t>
            </a:r>
          </a:p>
          <a:p>
            <a:pPr lvl="1"/>
            <a:r>
              <a:rPr lang="en-US" sz="2000" dirty="0"/>
              <a:t>Understand the role of automated reasoning in analyzing security policies and mechanisms, and gain experience applying widely-used tools for this purpose</a:t>
            </a:r>
          </a:p>
        </p:txBody>
      </p:sp>
    </p:spTree>
    <p:extLst>
      <p:ext uri="{BB962C8B-B14F-4D97-AF65-F5344CB8AC3E}">
        <p14:creationId xmlns:p14="http://schemas.microsoft.com/office/powerpoint/2010/main" val="2170594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588C-92FF-7EEF-772F-11A075DC7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AFD92-1662-EAEE-1871-435A981FB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288657" cy="4351338"/>
          </a:xfrm>
        </p:spPr>
        <p:txBody>
          <a:bodyPr>
            <a:normAutofit/>
          </a:bodyPr>
          <a:lstStyle/>
          <a:p>
            <a:r>
              <a:rPr lang="en-US" sz="2400" dirty="0"/>
              <a:t>Website: </a:t>
            </a:r>
            <a:r>
              <a:rPr lang="en-US" sz="2400" dirty="0">
                <a:hlinkClick r:id="rId2"/>
              </a:rPr>
              <a:t>https://cs.cmu.edu/~15316</a:t>
            </a:r>
            <a:endParaRPr lang="en-US" sz="2400" dirty="0"/>
          </a:p>
          <a:p>
            <a:r>
              <a:rPr lang="en-US" sz="2400" dirty="0"/>
              <a:t>Contact: Piazza</a:t>
            </a:r>
          </a:p>
          <a:p>
            <a:r>
              <a:rPr lang="en-US" sz="2400" dirty="0"/>
              <a:t>Lecture: HOA 160, 2:00-3:20 Tuesday/Thursday</a:t>
            </a:r>
          </a:p>
          <a:p>
            <a:pPr lvl="1"/>
            <a:r>
              <a:rPr lang="en-US" sz="2000" dirty="0"/>
              <a:t>Attendance expected, but not recorded</a:t>
            </a:r>
          </a:p>
          <a:p>
            <a:pPr lvl="1"/>
            <a:r>
              <a:rPr lang="en-US" sz="2000" dirty="0"/>
              <a:t>Piazza is not a substitute for attending lecture</a:t>
            </a:r>
          </a:p>
          <a:p>
            <a:r>
              <a:rPr lang="en-US" sz="2400" dirty="0"/>
              <a:t>Submit everything to </a:t>
            </a:r>
            <a:r>
              <a:rPr lang="en-US" sz="2400" dirty="0" err="1"/>
              <a:t>Gradescope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Office hours</a:t>
            </a:r>
          </a:p>
          <a:p>
            <a:pPr lvl="1"/>
            <a:r>
              <a:rPr lang="en-US" sz="2000" dirty="0"/>
              <a:t>My office, Fridays from 1:00-2:30</a:t>
            </a:r>
          </a:p>
          <a:p>
            <a:pPr lvl="1"/>
            <a:r>
              <a:rPr lang="en-US" sz="2000" dirty="0"/>
              <a:t>TAs in Gates Commons or CIC, details posted soon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75249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588C-92FF-7EEF-772F-11A075DC74B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AFD92-1662-EAEE-1871-435A981FB2F1}"/>
              </a:ext>
            </a:extLst>
          </p:cNvPr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defRPr/>
            </a:pPr>
            <a:r>
              <a:rPr kumimoji="0" lang="en-US" sz="2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Breakdown:</a:t>
            </a:r>
          </a:p>
          <a:p>
            <a:pPr lvl="1">
              <a:defRPr/>
            </a:pPr>
            <a:r>
              <a:rPr lang="en-US" sz="2000" dirty="0">
                <a:solidFill>
                  <a:schemeClr val="tx1">
                    <a:lumMod val="100000"/>
                  </a:schemeClr>
                </a:solidFill>
                <a:latin typeface="Avenir Next LT Pro" panose="020B0504020202020204" pitchFamily="34" charset="0"/>
              </a:rPr>
              <a:t>40</a:t>
            </a:r>
            <a:r>
              <a:rPr kumimoji="0" lang="en-US" sz="20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% written homework</a:t>
            </a:r>
          </a:p>
          <a:p>
            <a:pPr lvl="1">
              <a:defRPr/>
            </a:pPr>
            <a:r>
              <a:rPr lang="en-US" sz="2000" dirty="0">
                <a:solidFill>
                  <a:schemeClr val="tx1">
                    <a:lumMod val="100000"/>
                  </a:schemeClr>
                </a:solidFill>
                <a:latin typeface="Avenir Next LT Pro" panose="020B0504020202020204" pitchFamily="34" charset="0"/>
              </a:rPr>
              <a:t>40</a:t>
            </a:r>
            <a:r>
              <a:rPr kumimoji="0" lang="en-US" sz="20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% labs</a:t>
            </a:r>
          </a:p>
          <a:p>
            <a:pPr lvl="1">
              <a:defRPr/>
            </a:pPr>
            <a:r>
              <a:rPr lang="en-US" sz="2000" dirty="0">
                <a:solidFill>
                  <a:schemeClr val="tx1">
                    <a:lumMod val="100000"/>
                  </a:schemeClr>
                </a:solidFill>
                <a:latin typeface="Avenir Next LT Pro" panose="020B0504020202020204" pitchFamily="34" charset="0"/>
              </a:rPr>
              <a:t>20</a:t>
            </a:r>
            <a:r>
              <a:rPr kumimoji="0" lang="en-US" sz="20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% final exam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  <a:defRPr/>
            </a:pPr>
            <a:r>
              <a:rPr kumimoji="0" lang="en-US" sz="2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Final letter grades</a:t>
            </a:r>
          </a:p>
          <a:p>
            <a:pPr lvl="1">
              <a:defRPr/>
            </a:pPr>
            <a:r>
              <a:rPr kumimoji="0" lang="en-US" sz="20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90/80/70/60 thresholds</a:t>
            </a:r>
          </a:p>
          <a:p>
            <a:pPr lvl="1">
              <a:defRPr/>
            </a:pPr>
            <a:r>
              <a:rPr kumimoji="0" lang="en-US" sz="20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Round up</a:t>
            </a:r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B7B9E-C0C7-5BE4-7BA9-509EF6C64239}"/>
              </a:ext>
            </a:extLst>
          </p:cNvPr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>
                <a:solidFill>
                  <a:schemeClr val="tx1">
                    <a:lumMod val="100000"/>
                  </a:schemeClr>
                </a:solidFill>
                <a:latin typeface="Avenir Next LT Pro" panose="020B0504020202020204" pitchFamily="34" charset="0"/>
              </a:rPr>
              <a:t>5</a:t>
            </a:r>
            <a:r>
              <a:rPr kumimoji="0" lang="en-US" sz="2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 written </a:t>
            </a:r>
            <a:r>
              <a:rPr kumimoji="0" lang="en-US" sz="2400" strike="noStrike" kern="1200" cap="none" spc="0" normalizeH="0" noProof="0" dirty="0" err="1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homeworks</a:t>
            </a:r>
            <a:endParaRPr kumimoji="0" lang="en-US" sz="2400" strike="noStrike" kern="1200" cap="none" spc="0" normalizeH="0" noProof="0" dirty="0">
              <a:ln>
                <a:noFill/>
              </a:ln>
              <a:solidFill>
                <a:schemeClr val="tx1">
                  <a:lumMod val="100000"/>
                </a:schemeClr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  <a:p>
            <a:pPr>
              <a:defRPr/>
            </a:pPr>
            <a:r>
              <a:rPr lang="en-US" sz="2400" dirty="0">
                <a:solidFill>
                  <a:schemeClr val="tx1">
                    <a:lumMod val="100000"/>
                  </a:schemeClr>
                </a:solidFill>
                <a:latin typeface="Avenir Next LT Pro" panose="020B0504020202020204" pitchFamily="34" charset="0"/>
              </a:rPr>
              <a:t>3</a:t>
            </a:r>
            <a:r>
              <a:rPr kumimoji="0" lang="en-US" sz="2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 labs</a:t>
            </a:r>
          </a:p>
          <a:p>
            <a:pPr>
              <a:defRPr/>
            </a:pPr>
            <a:r>
              <a:rPr kumimoji="0" lang="en-US" sz="2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Final exam during finals week</a:t>
            </a:r>
          </a:p>
          <a:p>
            <a:pPr>
              <a:defRPr/>
            </a:pPr>
            <a:r>
              <a:rPr kumimoji="0" lang="en-US" sz="2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Five late days, no more than 2 used on any one assignment</a:t>
            </a:r>
          </a:p>
        </p:txBody>
      </p:sp>
    </p:spTree>
    <p:extLst>
      <p:ext uri="{BB962C8B-B14F-4D97-AF65-F5344CB8AC3E}">
        <p14:creationId xmlns:p14="http://schemas.microsoft.com/office/powerpoint/2010/main" val="2019890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588C-92FF-7EEF-772F-11A075DC74B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Written 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AFD92-1662-EAEE-1871-435A981FB2F1}"/>
              </a:ext>
            </a:extLst>
          </p:cNvPr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838199" y="1812925"/>
            <a:ext cx="10342033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kumimoji="0" lang="en-US" sz="2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Focus on theory + fundamental skills</a:t>
            </a:r>
          </a:p>
          <a:p>
            <a:pPr marL="0" indent="0">
              <a:buNone/>
              <a:defRPr/>
            </a:pPr>
            <a:r>
              <a:rPr kumimoji="0" lang="en-US" sz="2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1 week to complete</a:t>
            </a:r>
          </a:p>
          <a:p>
            <a:pPr marL="0" indent="0">
              <a:buNone/>
              <a:defRPr/>
            </a:pPr>
            <a:r>
              <a:rPr kumimoji="0" lang="en-US" sz="2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Due dates for the </a:t>
            </a:r>
            <a:r>
              <a:rPr lang="en-US" sz="2400" dirty="0">
                <a:solidFill>
                  <a:schemeClr val="tx1">
                    <a:lumMod val="100000"/>
                  </a:schemeClr>
                </a:solidFill>
                <a:latin typeface="Avenir Next LT Pro" panose="020B0504020202020204" pitchFamily="34" charset="0"/>
              </a:rPr>
              <a:t>semester </a:t>
            </a:r>
            <a:r>
              <a:rPr kumimoji="0" lang="en-US" sz="2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are on the course website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  <a:defRPr/>
            </a:pPr>
            <a:r>
              <a:rPr kumimoji="0" lang="en-US" sz="2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Grades based on:</a:t>
            </a:r>
          </a:p>
          <a:p>
            <a:pPr lvl="1">
              <a:defRPr/>
            </a:pPr>
            <a:r>
              <a:rPr kumimoji="0" lang="en-US" sz="20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Correctness (obviously)</a:t>
            </a:r>
          </a:p>
          <a:p>
            <a:pPr lvl="1">
              <a:defRPr/>
            </a:pPr>
            <a:r>
              <a:rPr kumimoji="0" lang="en-US" sz="20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Rigor</a:t>
            </a:r>
          </a:p>
          <a:p>
            <a:pPr lvl="1">
              <a:defRPr/>
            </a:pPr>
            <a:r>
              <a:rPr kumimoji="0" lang="en-US" sz="20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Clarity</a:t>
            </a:r>
          </a:p>
          <a:p>
            <a:pPr lvl="1"/>
            <a:endParaRPr lang="en-US" sz="2000" dirty="0"/>
          </a:p>
          <a:p>
            <a:pPr marL="0" indent="0">
              <a:buNone/>
              <a:defRPr/>
            </a:pPr>
            <a:r>
              <a:rPr kumimoji="0" lang="en-US" sz="2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Rigor and clarity in this course:</a:t>
            </a:r>
            <a:endParaRPr kumimoji="0" lang="en-US" sz="2400" b="1" strike="noStrike" kern="1200" cap="none" spc="0" normalizeH="0" noProof="0" dirty="0">
              <a:ln>
                <a:noFill/>
              </a:ln>
              <a:solidFill>
                <a:schemeClr val="tx1">
                  <a:lumMod val="100000"/>
                </a:schemeClr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  <a:p>
            <a:pPr lvl="1">
              <a:defRPr/>
            </a:pPr>
            <a:r>
              <a:rPr kumimoji="0" lang="en-US" sz="20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Formally state what you intend to show</a:t>
            </a:r>
          </a:p>
          <a:p>
            <a:pPr lvl="1">
              <a:defRPr/>
            </a:pPr>
            <a:r>
              <a:rPr kumimoji="0" lang="en-US" sz="20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List any assumptions</a:t>
            </a:r>
          </a:p>
          <a:p>
            <a:pPr lvl="1">
              <a:defRPr/>
            </a:pPr>
            <a:r>
              <a:rPr kumimoji="0" lang="en-US" sz="20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Show your steps, with appropriate justification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198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588C-92FF-7EEF-772F-11A075DC74B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Labs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AFD92-1662-EAEE-1871-435A981FB2F1}"/>
              </a:ext>
            </a:extLst>
          </p:cNvPr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838199" y="1825625"/>
            <a:ext cx="10075333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/>
              <a:t>Translate theory into something that works</a:t>
            </a:r>
          </a:p>
          <a:p>
            <a:pPr lvl="1"/>
            <a:r>
              <a:rPr lang="en-US" sz="2000" dirty="0"/>
              <a:t>Design a set of policies and a way of enforcing them</a:t>
            </a:r>
          </a:p>
          <a:p>
            <a:pPr lvl="1"/>
            <a:r>
              <a:rPr lang="en-US" sz="2000" dirty="0"/>
              <a:t>Formalize both</a:t>
            </a:r>
          </a:p>
          <a:p>
            <a:pPr lvl="1"/>
            <a:r>
              <a:rPr lang="en-US" sz="2000" dirty="0"/>
              <a:t>Implement them for the setting described in the lab</a:t>
            </a:r>
          </a:p>
          <a:p>
            <a:pPr lvl="1"/>
            <a:r>
              <a:rPr lang="en-US" sz="2000" dirty="0"/>
              <a:t>Learn to use new tools in the process</a:t>
            </a:r>
          </a:p>
          <a:p>
            <a:pPr lvl="1"/>
            <a:r>
              <a:rPr lang="en-US" sz="2000" dirty="0"/>
              <a:t>May work with a partner</a:t>
            </a:r>
          </a:p>
          <a:p>
            <a:pPr lvl="1"/>
            <a:endParaRPr lang="en-US" sz="2000" dirty="0"/>
          </a:p>
          <a:p>
            <a:pPr marL="0" indent="0">
              <a:buNone/>
              <a:defRPr/>
            </a:pPr>
            <a:r>
              <a:rPr kumimoji="0" lang="en-US" sz="2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Grades are based on:</a:t>
            </a:r>
          </a:p>
          <a:p>
            <a:pPr lvl="1">
              <a:defRPr/>
            </a:pPr>
            <a:r>
              <a:rPr kumimoji="0" lang="en-US" sz="20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Correct functionality (evaluated by </a:t>
            </a:r>
            <a:r>
              <a:rPr kumimoji="0" lang="en-US" sz="2000" strike="noStrike" kern="1200" cap="none" spc="0" normalizeH="0" noProof="0" dirty="0" err="1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autograder</a:t>
            </a:r>
            <a:r>
              <a:rPr kumimoji="0" lang="en-US" sz="20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)</a:t>
            </a:r>
          </a:p>
          <a:p>
            <a:pPr lvl="1"/>
            <a:r>
              <a:rPr lang="en-US" sz="2000" dirty="0"/>
              <a:t>Completeness, robustness of security mechanism</a:t>
            </a:r>
          </a:p>
          <a:p>
            <a:pPr lvl="1"/>
            <a:r>
              <a:rPr lang="en-US" sz="2000" dirty="0"/>
              <a:t>Documentation, clarity of your solution</a:t>
            </a:r>
          </a:p>
          <a:p>
            <a:pPr lvl="1"/>
            <a:r>
              <a:rPr lang="en-US" sz="2000" dirty="0"/>
              <a:t>In-person comprehension check (~15 minute quiz)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2400" dirty="0"/>
              <a:t>How to work with course staff when completing the labs</a:t>
            </a:r>
          </a:p>
          <a:p>
            <a:pPr lvl="1"/>
            <a:r>
              <a:rPr lang="en-US" sz="2000" dirty="0"/>
              <a:t>We can help with: understanding the setting/concepts, critiquing your approach</a:t>
            </a:r>
          </a:p>
          <a:p>
            <a:pPr lvl="1"/>
            <a:r>
              <a:rPr lang="en-US" sz="2000" dirty="0"/>
              <a:t>We won’t help with: debugging code, proposing an approach</a:t>
            </a:r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25342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588C-92FF-7EEF-772F-11A075DC74B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Final Exam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AFD92-1662-EAEE-1871-435A981FB2F1}"/>
              </a:ext>
            </a:extLst>
          </p:cNvPr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838200" y="1825625"/>
            <a:ext cx="10007600" cy="4351338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kumimoji="0" lang="en-US" sz="2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Reason &amp; apply main ideas from this course</a:t>
            </a:r>
          </a:p>
          <a:p>
            <a:pPr lvl="1">
              <a:defRPr/>
            </a:pPr>
            <a:r>
              <a:rPr kumimoji="0" lang="en-US" sz="20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In-person, cumulative</a:t>
            </a:r>
          </a:p>
          <a:p>
            <a:pPr lvl="1">
              <a:defRPr/>
            </a:pPr>
            <a:r>
              <a:rPr kumimoji="0" lang="en-US" sz="20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Questions resemble less time-intensive homework problems</a:t>
            </a:r>
          </a:p>
          <a:p>
            <a:pPr lvl="1">
              <a:defRPr/>
            </a:pPr>
            <a:r>
              <a:rPr kumimoji="0" lang="en-US" sz="20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Representative practice exam released the last week of classes</a:t>
            </a:r>
          </a:p>
          <a:p>
            <a:pPr lvl="1"/>
            <a:endParaRPr lang="en-US" sz="2000" dirty="0"/>
          </a:p>
          <a:p>
            <a:pPr marL="0" indent="0">
              <a:buNone/>
              <a:defRPr/>
            </a:pPr>
            <a:r>
              <a:rPr kumimoji="0" lang="en-US" sz="2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Not a check on your recall of minute details</a:t>
            </a:r>
          </a:p>
          <a:p>
            <a:pPr lvl="1">
              <a:defRPr/>
            </a:pPr>
            <a:r>
              <a:rPr kumimoji="0" lang="en-US" sz="20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Exam comes with an extensive formula sheet</a:t>
            </a:r>
          </a:p>
          <a:p>
            <a:pPr lvl="1">
              <a:defRPr/>
            </a:pPr>
            <a:r>
              <a:rPr kumimoji="0" lang="en-US" sz="20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You may bring 1 page of handwritten notes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6727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5B28A-4E18-B216-A9C9-43605072C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AI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AB568-6638-7D72-E3BB-25A5C28F47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</a:t>
            </a:r>
            <a:r>
              <a:rPr lang="en-US" b="1" dirty="0"/>
              <a:t>may</a:t>
            </a:r>
            <a:r>
              <a:rPr lang="en-US" dirty="0"/>
              <a:t> use AI to:</a:t>
            </a:r>
          </a:p>
          <a:p>
            <a:pPr lvl="1"/>
            <a:r>
              <a:rPr lang="en-US" dirty="0"/>
              <a:t>Explain, answer questions about concepts covered in the course</a:t>
            </a:r>
          </a:p>
          <a:p>
            <a:pPr lvl="1"/>
            <a:r>
              <a:rPr lang="en-US" dirty="0"/>
              <a:t>Check your understanding—but be careful, and check references!</a:t>
            </a:r>
          </a:p>
          <a:p>
            <a:pPr lvl="1"/>
            <a:r>
              <a:rPr lang="en-US" dirty="0"/>
              <a:t>Generate practice exercises</a:t>
            </a:r>
          </a:p>
          <a:p>
            <a:pPr lvl="1"/>
            <a:r>
              <a:rPr lang="en-US" dirty="0"/>
              <a:t>Help typeset work that you’ve already completed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CA74A-2398-8FB8-BF41-0BF631FF54F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</a:t>
            </a:r>
            <a:r>
              <a:rPr lang="en-US" b="1" dirty="0"/>
              <a:t>may not</a:t>
            </a:r>
            <a:r>
              <a:rPr lang="en-US" dirty="0"/>
              <a:t> use AI to:</a:t>
            </a:r>
          </a:p>
          <a:p>
            <a:pPr lvl="1"/>
            <a:r>
              <a:rPr lang="en-US" dirty="0"/>
              <a:t>Write </a:t>
            </a:r>
            <a:r>
              <a:rPr lang="en-US" i="1" dirty="0"/>
              <a:t>any</a:t>
            </a:r>
            <a:r>
              <a:rPr lang="en-US" dirty="0"/>
              <a:t> code for the labs</a:t>
            </a:r>
          </a:p>
          <a:p>
            <a:pPr lvl="1"/>
            <a:r>
              <a:rPr lang="en-US" dirty="0"/>
              <a:t>Write test cases that you hand in for a grade</a:t>
            </a:r>
          </a:p>
          <a:p>
            <a:pPr lvl="1"/>
            <a:r>
              <a:rPr lang="en-US" dirty="0"/>
              <a:t>Provide answers for written homework</a:t>
            </a:r>
          </a:p>
          <a:p>
            <a:pPr lvl="1"/>
            <a:r>
              <a:rPr lang="en-US" dirty="0"/>
              <a:t>Generally: complete graded work for you</a:t>
            </a:r>
          </a:p>
        </p:txBody>
      </p:sp>
    </p:spTree>
    <p:extLst>
      <p:ext uri="{BB962C8B-B14F-4D97-AF65-F5344CB8AC3E}">
        <p14:creationId xmlns:p14="http://schemas.microsoft.com/office/powerpoint/2010/main" val="174594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BCDD7-3B54-64B4-AC4C-8C9E598A96A7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Before Thursday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07031-CC8E-5F67-C101-0B73914ED5FC}"/>
              </a:ext>
            </a:extLst>
          </p:cNvPr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838199" y="1825625"/>
            <a:ext cx="10278534" cy="4351338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kumimoji="0" lang="en-US" sz="2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Make sure that you are enrolled in </a:t>
            </a:r>
            <a:r>
              <a:rPr kumimoji="0" lang="en-US" sz="2400" strike="noStrike" kern="1200" cap="none" spc="0" normalizeH="0" noProof="0" dirty="0" err="1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Gradescope</a:t>
            </a:r>
            <a:r>
              <a:rPr lang="en-US" sz="2400" dirty="0">
                <a:solidFill>
                  <a:schemeClr val="tx1">
                    <a:lumMod val="100000"/>
                  </a:schemeClr>
                </a:solidFill>
                <a:latin typeface="Avenir Next LT Pro" panose="020B0504020202020204" pitchFamily="34" charset="0"/>
              </a:rPr>
              <a:t> and</a:t>
            </a:r>
            <a:r>
              <a:rPr kumimoji="0" lang="en-US" sz="24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 Piazza sections</a:t>
            </a:r>
          </a:p>
          <a:p>
            <a:pPr lvl="1">
              <a:defRPr/>
            </a:pPr>
            <a:r>
              <a:rPr kumimoji="0" lang="en-US" sz="20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Piazza signup: </a:t>
            </a:r>
            <a:r>
              <a:rPr lang="en-US" sz="2000" dirty="0">
                <a:solidFill>
                  <a:schemeClr val="tx1">
                    <a:lumMod val="100000"/>
                  </a:schemeClr>
                </a:solidFill>
                <a:latin typeface="Avenir Next LT Pro" panose="020B0504020202020204" pitchFamily="34" charset="0"/>
                <a:hlinkClick r:id="rId4"/>
              </a:rPr>
              <a:t>https://piazza.com/cmu/spring2026/15316</a:t>
            </a:r>
            <a:endParaRPr lang="en-US" sz="2000" dirty="0">
              <a:solidFill>
                <a:schemeClr val="tx1">
                  <a:lumMod val="100000"/>
                </a:schemeClr>
              </a:solidFill>
              <a:latin typeface="Avenir Next LT Pro" panose="020B0504020202020204" pitchFamily="34" charset="0"/>
            </a:endParaRPr>
          </a:p>
          <a:p>
            <a:pPr lvl="1">
              <a:defRPr/>
            </a:pPr>
            <a:r>
              <a:rPr lang="en-US" sz="2000" dirty="0" err="1">
                <a:solidFill>
                  <a:schemeClr val="tx1">
                    <a:lumMod val="100000"/>
                  </a:schemeClr>
                </a:solidFill>
                <a:latin typeface="Avenir Next LT Pro" panose="020B0504020202020204" pitchFamily="34" charset="0"/>
              </a:rPr>
              <a:t>Gradescope</a:t>
            </a:r>
            <a:r>
              <a:rPr lang="en-US" sz="2000" dirty="0">
                <a:solidFill>
                  <a:schemeClr val="tx1">
                    <a:lumMod val="100000"/>
                  </a:schemeClr>
                </a:solidFill>
                <a:latin typeface="Avenir Next LT Pro" panose="020B0504020202020204" pitchFamily="34" charset="0"/>
              </a:rPr>
              <a:t> </a:t>
            </a:r>
            <a:r>
              <a:rPr kumimoji="0" lang="en-US" sz="2000" strike="noStrike" kern="1200" cap="none" spc="0" normalizeH="0" noProof="0" dirty="0">
                <a:ln>
                  <a:noFill/>
                </a:ln>
                <a:solidFill>
                  <a:schemeClr val="tx1">
                    <a:lumMod val="100000"/>
                  </a:schemeClr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code: </a:t>
            </a:r>
            <a:r>
              <a:rPr lang="en-US" sz="2000" dirty="0">
                <a:solidFill>
                  <a:schemeClr val="tx1">
                    <a:lumMod val="100000"/>
                  </a:schemeClr>
                </a:solidFill>
                <a:latin typeface="Avenir Next LT Pro" panose="020B0504020202020204" pitchFamily="34" charset="0"/>
              </a:rPr>
              <a:t>2D2XJ5</a:t>
            </a:r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379565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ID" val=" 3"/>
</p:tagLst>
</file>

<file path=ppt/theme/theme1.xml><?xml version="1.0" encoding="utf-8"?>
<a:theme xmlns:a="http://schemas.openxmlformats.org/drawingml/2006/main" name="lec-theme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-theme" id="{6EB7AB2E-4B0F-4BDA-9A47-822D1CC959C5}" vid="{7A968F0D-55C4-4F24-8DFE-7D0182C248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lec-theme</Template>
  <TotalTime>2080</TotalTime>
  <Words>1317</Words>
  <Application>Microsoft Macintosh PowerPoint</Application>
  <PresentationFormat>Widescreen</PresentationFormat>
  <Paragraphs>197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Avenir Next LT Pro</vt:lpstr>
      <vt:lpstr>Cambria Math</vt:lpstr>
      <vt:lpstr>Tw Cen MT</vt:lpstr>
      <vt:lpstr>Verdana</vt:lpstr>
      <vt:lpstr>lec-theme</vt:lpstr>
      <vt:lpstr>15-316: Software Foundations of Security and Privacy</vt:lpstr>
      <vt:lpstr>Course Staff</vt:lpstr>
      <vt:lpstr>Failed Attempts at Security: Netflix Prize</vt:lpstr>
      <vt:lpstr>A brief digression</vt:lpstr>
      <vt:lpstr>Damning revelations</vt:lpstr>
      <vt:lpstr>Video Privacy Protection Act of 1988</vt:lpstr>
      <vt:lpstr>PowerPoint Presentation</vt:lpstr>
      <vt:lpstr>Entropy and identity</vt:lpstr>
      <vt:lpstr>What is private information anyway?</vt:lpstr>
      <vt:lpstr>Takeaways</vt:lpstr>
      <vt:lpstr>This course</vt:lpstr>
      <vt:lpstr>Logic and languages</vt:lpstr>
      <vt:lpstr>Learning objectives</vt:lpstr>
      <vt:lpstr>Logistics</vt:lpstr>
      <vt:lpstr>Grading</vt:lpstr>
      <vt:lpstr>Written homework</vt:lpstr>
      <vt:lpstr>Labs</vt:lpstr>
      <vt:lpstr>Final Exam</vt:lpstr>
      <vt:lpstr>Use of AI tools</vt:lpstr>
      <vt:lpstr>Before Thursday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15-316: Software Foundations of Security and Privacy</dc:title>
  <dc:creator>Matt Fredrikson</dc:creator>
  <cp:lastModifiedBy>Matt Fredrikson</cp:lastModifiedBy>
  <cp:revision>54</cp:revision>
  <cp:lastPrinted>2026-01-13T16:13:17Z</cp:lastPrinted>
  <dcterms:created xsi:type="dcterms:W3CDTF">2022-08-29T14:06:33Z</dcterms:created>
  <dcterms:modified xsi:type="dcterms:W3CDTF">2026-01-14T14:50:42Z</dcterms:modified>
</cp:coreProperties>
</file>