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54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6" r:id="rId16"/>
    <p:sldId id="341" r:id="rId17"/>
    <p:sldId id="343" r:id="rId18"/>
    <p:sldId id="349" r:id="rId19"/>
    <p:sldId id="356" r:id="rId20"/>
    <p:sldId id="35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44" autoAdjust="0"/>
    <p:restoredTop sz="94660"/>
  </p:normalViewPr>
  <p:slideViewPr>
    <p:cSldViewPr snapToGrid="0">
      <p:cViewPr varScale="1">
        <p:scale>
          <a:sx n="204" d="100"/>
          <a:sy n="204" d="100"/>
        </p:scale>
        <p:origin x="208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1A06-8754-4870-9E44-E39BADAD9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93208" y="2743200"/>
            <a:ext cx="6592824" cy="2386584"/>
          </a:xfrm>
        </p:spPr>
        <p:txBody>
          <a:bodyPr anchor="b"/>
          <a:lstStyle>
            <a:lvl1pPr algn="r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27F020-BBC3-49BB-91C2-5B2CBD64B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93208" y="5221224"/>
            <a:ext cx="6592824" cy="996696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049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432" y="1399032"/>
            <a:ext cx="3236976" cy="406908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52" y="1527048"/>
            <a:ext cx="5111496" cy="3931920"/>
          </a:xfrm>
        </p:spPr>
        <p:txBody>
          <a:bodyPr anchor="ctr"/>
          <a:lstStyle>
            <a:lvl1pPr marL="0" indent="0">
              <a:buNone/>
              <a:defRPr/>
            </a:lvl1pPr>
            <a:lvl2pPr marL="228600">
              <a:defRPr/>
            </a:lvl2pPr>
            <a:lvl3pPr marL="457200">
              <a:defRPr/>
            </a:lvl3pPr>
            <a:lvl4pPr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39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2 small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614E3F-4FB2-4152-A59C-941C908D7B0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00479" y="1150210"/>
            <a:ext cx="2207046" cy="2204178"/>
          </a:xfrm>
          <a:custGeom>
            <a:avLst/>
            <a:gdLst>
              <a:gd name="connsiteX0" fmla="*/ 1098749 w 2207046"/>
              <a:gd name="connsiteY0" fmla="*/ 0 h 2204178"/>
              <a:gd name="connsiteX1" fmla="*/ 2201707 w 2207046"/>
              <a:gd name="connsiteY1" fmla="*/ 995326 h 2204178"/>
              <a:gd name="connsiteX2" fmla="*/ 2207046 w 2207046"/>
              <a:gd name="connsiteY2" fmla="*/ 1101058 h 2204178"/>
              <a:gd name="connsiteX3" fmla="*/ 2207046 w 2207046"/>
              <a:gd name="connsiteY3" fmla="*/ 1116306 h 2204178"/>
              <a:gd name="connsiteX4" fmla="*/ 2201707 w 2207046"/>
              <a:gd name="connsiteY4" fmla="*/ 1222039 h 2204178"/>
              <a:gd name="connsiteX5" fmla="*/ 1322187 w 2207046"/>
              <a:gd name="connsiteY5" fmla="*/ 2194840 h 2204178"/>
              <a:gd name="connsiteX6" fmla="*/ 1260999 w 2207046"/>
              <a:gd name="connsiteY6" fmla="*/ 2204178 h 2204178"/>
              <a:gd name="connsiteX7" fmla="*/ 936500 w 2207046"/>
              <a:gd name="connsiteY7" fmla="*/ 2204178 h 2204178"/>
              <a:gd name="connsiteX8" fmla="*/ 875311 w 2207046"/>
              <a:gd name="connsiteY8" fmla="*/ 2194840 h 2204178"/>
              <a:gd name="connsiteX9" fmla="*/ 12592 w 2207046"/>
              <a:gd name="connsiteY9" fmla="*/ 1332120 h 2204178"/>
              <a:gd name="connsiteX10" fmla="*/ 0 w 2207046"/>
              <a:gd name="connsiteY10" fmla="*/ 1249617 h 2204178"/>
              <a:gd name="connsiteX11" fmla="*/ 0 w 2207046"/>
              <a:gd name="connsiteY11" fmla="*/ 967747 h 2204178"/>
              <a:gd name="connsiteX12" fmla="*/ 12592 w 2207046"/>
              <a:gd name="connsiteY12" fmla="*/ 885244 h 2204178"/>
              <a:gd name="connsiteX13" fmla="*/ 1098749 w 2207046"/>
              <a:gd name="connsiteY13" fmla="*/ 0 h 220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07046" h="2204178">
                <a:moveTo>
                  <a:pt x="1098749" y="0"/>
                </a:moveTo>
                <a:cubicBezTo>
                  <a:pt x="1672788" y="0"/>
                  <a:pt x="2144931" y="436266"/>
                  <a:pt x="2201707" y="995326"/>
                </a:cubicBezTo>
                <a:lnTo>
                  <a:pt x="2207046" y="1101058"/>
                </a:lnTo>
                <a:lnTo>
                  <a:pt x="2207046" y="1116306"/>
                </a:lnTo>
                <a:lnTo>
                  <a:pt x="2201707" y="1222039"/>
                </a:lnTo>
                <a:cubicBezTo>
                  <a:pt x="2152501" y="1706557"/>
                  <a:pt x="1791308" y="2098844"/>
                  <a:pt x="1322187" y="2194840"/>
                </a:cubicBezTo>
                <a:lnTo>
                  <a:pt x="1260999" y="2204178"/>
                </a:lnTo>
                <a:lnTo>
                  <a:pt x="936500" y="2204178"/>
                </a:lnTo>
                <a:lnTo>
                  <a:pt x="875311" y="2194840"/>
                </a:lnTo>
                <a:cubicBezTo>
                  <a:pt x="442276" y="2106228"/>
                  <a:pt x="101204" y="1765156"/>
                  <a:pt x="12592" y="1332120"/>
                </a:cubicBezTo>
                <a:lnTo>
                  <a:pt x="0" y="1249617"/>
                </a:lnTo>
                <a:lnTo>
                  <a:pt x="0" y="967747"/>
                </a:lnTo>
                <a:lnTo>
                  <a:pt x="12592" y="885244"/>
                </a:lnTo>
                <a:cubicBezTo>
                  <a:pt x="115972" y="380036"/>
                  <a:pt x="562980" y="0"/>
                  <a:pt x="1098749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A1F486A-F545-4642-B1CB-5356704413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44632" y="2579683"/>
            <a:ext cx="3096807" cy="3096807"/>
          </a:xfrm>
          <a:custGeom>
            <a:avLst/>
            <a:gdLst>
              <a:gd name="connsiteX0" fmla="*/ 1548404 w 3096807"/>
              <a:gd name="connsiteY0" fmla="*/ 0 h 3096807"/>
              <a:gd name="connsiteX1" fmla="*/ 3096807 w 3096807"/>
              <a:gd name="connsiteY1" fmla="*/ 1548404 h 3096807"/>
              <a:gd name="connsiteX2" fmla="*/ 1548404 w 3096807"/>
              <a:gd name="connsiteY2" fmla="*/ 3096807 h 3096807"/>
              <a:gd name="connsiteX3" fmla="*/ 0 w 3096807"/>
              <a:gd name="connsiteY3" fmla="*/ 1548404 h 3096807"/>
              <a:gd name="connsiteX4" fmla="*/ 1548404 w 3096807"/>
              <a:gd name="connsiteY4" fmla="*/ 0 h 3096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6807" h="3096807">
                <a:moveTo>
                  <a:pt x="1548404" y="0"/>
                </a:moveTo>
                <a:cubicBezTo>
                  <a:pt x="2403564" y="0"/>
                  <a:pt x="3096807" y="693243"/>
                  <a:pt x="3096807" y="1548404"/>
                </a:cubicBezTo>
                <a:cubicBezTo>
                  <a:pt x="3096807" y="2403564"/>
                  <a:pt x="2403564" y="3096807"/>
                  <a:pt x="1548404" y="3096807"/>
                </a:cubicBezTo>
                <a:cubicBezTo>
                  <a:pt x="693243" y="3096807"/>
                  <a:pt x="0" y="2403564"/>
                  <a:pt x="0" y="1548404"/>
                </a:cubicBezTo>
                <a:cubicBezTo>
                  <a:pt x="0" y="693243"/>
                  <a:pt x="693243" y="0"/>
                  <a:pt x="1548404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365124"/>
            <a:ext cx="5806440" cy="13258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1825625"/>
            <a:ext cx="5806440" cy="435254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buNone/>
              <a:defRPr sz="2400"/>
            </a:lvl1pPr>
            <a:lvl2pPr marL="228600">
              <a:lnSpc>
                <a:spcPct val="110000"/>
              </a:lnSpc>
              <a:defRPr sz="2000"/>
            </a:lvl2pPr>
            <a:lvl3pPr marL="457200">
              <a:lnSpc>
                <a:spcPct val="110000"/>
              </a:lnSpc>
              <a:defRPr sz="1800"/>
            </a:lvl3pPr>
            <a:lvl4pPr marL="685800"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3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0001-5D76-45A0-A9F4-7172BDDD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9272" y="1380744"/>
            <a:ext cx="5559552" cy="2514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462C4-0E4B-4DB7-A8BF-FE551427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19272" y="4078224"/>
            <a:ext cx="5559552" cy="153619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3895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576" y="1911096"/>
            <a:ext cx="98298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371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1096"/>
            <a:ext cx="105156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803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slide with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3E3FD7E-C80A-4707-A8E9-4134DF91F3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8000"/>
          </a:xfrm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0EC23F5-CD2E-4207-A4E6-73BDFF74D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500" y="370600"/>
            <a:ext cx="5923842" cy="5923842"/>
          </a:xfrm>
          <a:custGeom>
            <a:avLst/>
            <a:gdLst>
              <a:gd name="connsiteX0" fmla="*/ 2961921 w 5923842"/>
              <a:gd name="connsiteY0" fmla="*/ 0 h 5923842"/>
              <a:gd name="connsiteX1" fmla="*/ 5923842 w 5923842"/>
              <a:gd name="connsiteY1" fmla="*/ 2961921 h 5923842"/>
              <a:gd name="connsiteX2" fmla="*/ 2961921 w 5923842"/>
              <a:gd name="connsiteY2" fmla="*/ 5923842 h 5923842"/>
              <a:gd name="connsiteX3" fmla="*/ 0 w 5923842"/>
              <a:gd name="connsiteY3" fmla="*/ 2961921 h 5923842"/>
              <a:gd name="connsiteX4" fmla="*/ 2961921 w 5923842"/>
              <a:gd name="connsiteY4" fmla="*/ 0 h 5923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23842" h="5923842">
                <a:moveTo>
                  <a:pt x="2961921" y="0"/>
                </a:moveTo>
                <a:cubicBezTo>
                  <a:pt x="4597745" y="0"/>
                  <a:pt x="5923842" y="1326097"/>
                  <a:pt x="5923842" y="2961921"/>
                </a:cubicBezTo>
                <a:cubicBezTo>
                  <a:pt x="5923842" y="4597745"/>
                  <a:pt x="4597745" y="5923842"/>
                  <a:pt x="2961921" y="5923842"/>
                </a:cubicBezTo>
                <a:cubicBezTo>
                  <a:pt x="1326097" y="5923842"/>
                  <a:pt x="0" y="4597745"/>
                  <a:pt x="0" y="2961921"/>
                </a:cubicBezTo>
                <a:cubicBezTo>
                  <a:pt x="0" y="1326097"/>
                  <a:pt x="1326097" y="0"/>
                  <a:pt x="2961921" y="0"/>
                </a:cubicBezTo>
                <a:close/>
              </a:path>
            </a:pathLst>
          </a:custGeom>
          <a:solidFill>
            <a:schemeClr val="bg1">
              <a:alpha val="95000"/>
            </a:schemeClr>
          </a:solidFill>
        </p:spPr>
        <p:txBody>
          <a:bodyPr wrap="square" lIns="457200" rIns="457200" bIns="2331720" anchor="b" anchorCtr="0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462C4-0E4B-4DB7-A8BF-FE551427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75304" y="4379976"/>
            <a:ext cx="5038344" cy="7132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FE53-FB67-4871-8485-71BAAFD7D1B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D26FED4-1CE2-444B-A77E-EB3CB505AF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8FD25AA-10CC-48D8-9577-257871107B9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79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BFD05-2CB2-4A7E-89E7-57615BA82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532B8-D460-476D-816F-725E8D96C0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F7120F-70AF-4ED5-B364-3AA55C6B4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8B65F-F709-469F-9961-4D01896C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C6BC-B23D-48BC-AD44-654DDB8D0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0D60B-86A1-479D-BCE8-06D2C3DB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80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983E-E761-4429-9203-7FE8B2DB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1E9B7-62BE-49BA-AC6B-55250D662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1A3FD-B90A-4C31-BD6B-581F9E2E0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D1D55-B722-4968-B171-AF3B462DD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085A8-02C2-4E7F-935E-5AEECBAD1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8A5018-8A77-40E8-B159-4894ECF2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D79441-8908-4461-9FDD-BCE638837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29F7D-B101-4950-A2C0-F350FB26D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195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983E-E761-4429-9203-7FE8B2DB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1E9B7-62BE-49BA-AC6B-55250D662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2918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1A3FD-B90A-4C31-BD6B-581F9E2E0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2918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D1D55-B722-4968-B171-AF3B462DD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53128" y="1681163"/>
            <a:ext cx="32918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085A8-02C2-4E7F-935E-5AEECBAD1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53128" y="2505075"/>
            <a:ext cx="32918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8A5018-8A77-40E8-B159-4894ECF2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D79441-8908-4461-9FDD-BCE638837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29F7D-B101-4950-A2C0-F350FB26D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ACF5677B-E56F-4452-ADDC-DA0E20A95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65008" y="1681163"/>
            <a:ext cx="32918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865D9C09-AB3B-40EB-B1DA-9C6D7234345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65008" y="2505075"/>
            <a:ext cx="32918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452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ith 2 medium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AA9DFF3-1B49-48A9-BF8A-57DD7D07CFA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01259" y="2727729"/>
            <a:ext cx="4290740" cy="4130271"/>
          </a:xfrm>
          <a:custGeom>
            <a:avLst/>
            <a:gdLst>
              <a:gd name="connsiteX0" fmla="*/ 2503809 w 4290740"/>
              <a:gd name="connsiteY0" fmla="*/ 0 h 4130271"/>
              <a:gd name="connsiteX1" fmla="*/ 4198398 w 4290740"/>
              <a:gd name="connsiteY1" fmla="*/ 660580 h 4130271"/>
              <a:gd name="connsiteX2" fmla="*/ 4290740 w 4290740"/>
              <a:gd name="connsiteY2" fmla="*/ 751285 h 4130271"/>
              <a:gd name="connsiteX3" fmla="*/ 4290740 w 4290740"/>
              <a:gd name="connsiteY3" fmla="*/ 4130271 h 4130271"/>
              <a:gd name="connsiteX4" fmla="*/ 604508 w 4290740"/>
              <a:gd name="connsiteY4" fmla="*/ 4130271 h 4130271"/>
              <a:gd name="connsiteX5" fmla="*/ 461940 w 4290740"/>
              <a:gd name="connsiteY5" fmla="*/ 3953232 h 4130271"/>
              <a:gd name="connsiteX6" fmla="*/ 0 w 4290740"/>
              <a:gd name="connsiteY6" fmla="*/ 2503809 h 4130271"/>
              <a:gd name="connsiteX7" fmla="*/ 2503809 w 4290740"/>
              <a:gd name="connsiteY7" fmla="*/ 0 h 4130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90740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0" y="751285"/>
                </a:lnTo>
                <a:lnTo>
                  <a:pt x="4290740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CFEFC13-B998-4A6F-A7ED-411E266D28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1609" y="0"/>
            <a:ext cx="3519311" cy="3007909"/>
          </a:xfrm>
          <a:custGeom>
            <a:avLst/>
            <a:gdLst>
              <a:gd name="connsiteX0" fmla="*/ 519779 w 3519311"/>
              <a:gd name="connsiteY0" fmla="*/ 0 h 3007909"/>
              <a:gd name="connsiteX1" fmla="*/ 2999531 w 3519311"/>
              <a:gd name="connsiteY1" fmla="*/ 0 h 3007909"/>
              <a:gd name="connsiteX2" fmla="*/ 3003920 w 3519311"/>
              <a:gd name="connsiteY2" fmla="*/ 3989 h 3007909"/>
              <a:gd name="connsiteX3" fmla="*/ 3519311 w 3519311"/>
              <a:gd name="connsiteY3" fmla="*/ 1248253 h 3007909"/>
              <a:gd name="connsiteX4" fmla="*/ 1759655 w 3519311"/>
              <a:gd name="connsiteY4" fmla="*/ 3007909 h 3007909"/>
              <a:gd name="connsiteX5" fmla="*/ 9084 w 3519311"/>
              <a:gd name="connsiteY5" fmla="*/ 1428168 h 3007909"/>
              <a:gd name="connsiteX6" fmla="*/ 0 w 3519311"/>
              <a:gd name="connsiteY6" fmla="*/ 1248273 h 3007909"/>
              <a:gd name="connsiteX7" fmla="*/ 0 w 3519311"/>
              <a:gd name="connsiteY7" fmla="*/ 1248233 h 3007909"/>
              <a:gd name="connsiteX8" fmla="*/ 9084 w 3519311"/>
              <a:gd name="connsiteY8" fmla="*/ 1068339 h 3007909"/>
              <a:gd name="connsiteX9" fmla="*/ 515391 w 3519311"/>
              <a:gd name="connsiteY9" fmla="*/ 3989 h 3007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519311" h="3007909">
                <a:moveTo>
                  <a:pt x="519779" y="0"/>
                </a:moveTo>
                <a:lnTo>
                  <a:pt x="2999531" y="0"/>
                </a:lnTo>
                <a:lnTo>
                  <a:pt x="3003920" y="3989"/>
                </a:lnTo>
                <a:cubicBezTo>
                  <a:pt x="3322355" y="322424"/>
                  <a:pt x="3519311" y="762338"/>
                  <a:pt x="3519311" y="1248253"/>
                </a:cubicBezTo>
                <a:cubicBezTo>
                  <a:pt x="3519311" y="2220084"/>
                  <a:pt x="2731486" y="3007909"/>
                  <a:pt x="1759655" y="3007909"/>
                </a:cubicBezTo>
                <a:cubicBezTo>
                  <a:pt x="848565" y="3007909"/>
                  <a:pt x="99196" y="2315485"/>
                  <a:pt x="9084" y="1428168"/>
                </a:cubicBezTo>
                <a:lnTo>
                  <a:pt x="0" y="1248273"/>
                </a:lnTo>
                <a:lnTo>
                  <a:pt x="0" y="1248233"/>
                </a:lnTo>
                <a:lnTo>
                  <a:pt x="9084" y="1068339"/>
                </a:lnTo>
                <a:cubicBezTo>
                  <a:pt x="51137" y="654258"/>
                  <a:pt x="236761" y="282620"/>
                  <a:pt x="515391" y="3989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65760"/>
            <a:ext cx="5120640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5093208" cy="4352544"/>
          </a:xfrm>
        </p:spPr>
        <p:txBody>
          <a:bodyPr/>
          <a:lstStyle>
            <a:lvl1pPr marL="0" indent="0">
              <a:buNone/>
              <a:defRPr sz="2400"/>
            </a:lvl1pPr>
            <a:lvl2pPr marL="228600">
              <a:defRPr/>
            </a:lvl2pPr>
            <a:lvl3pPr marL="457200">
              <a:defRPr/>
            </a:lvl3pPr>
            <a:lvl4pPr marL="685800"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26834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888" y="1234440"/>
            <a:ext cx="3236976" cy="406908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82496" y="6356350"/>
            <a:ext cx="1545336" cy="3651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9048" y="6356350"/>
            <a:ext cx="4114800" cy="365125"/>
          </a:xfrm>
        </p:spPr>
        <p:txBody>
          <a:bodyPr/>
          <a:lstStyle>
            <a:lvl1pPr algn="l"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06456" y="6356350"/>
            <a:ext cx="850392" cy="3651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5976" y="2551176"/>
            <a:ext cx="4709160" cy="1755648"/>
          </a:xfrm>
        </p:spPr>
        <p:txBody>
          <a:bodyPr/>
          <a:lstStyle>
            <a:lvl1pPr marL="0" indent="0">
              <a:buNone/>
              <a:defRPr sz="2400"/>
            </a:lvl1pPr>
            <a:lvl2pPr marL="228600">
              <a:defRPr sz="1800"/>
            </a:lvl2pPr>
            <a:lvl3pPr marL="457200"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13070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024287-C9B9-48AC-8E4D-A282DE2F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4C9A2-75A7-4164-B3B8-E6A9D60B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73CE-2859-4D49-A9EC-26AF3FBD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357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024287-C9B9-48AC-8E4D-A282DE2F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4C9A2-75A7-4164-B3B8-E6A9D60B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73CE-2859-4D49-A9EC-26AF3FBD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9A1C714-6A0E-456D-A2E2-6288C0EA0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451730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FC812-4DB6-4F98-9404-29C191D3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0855E-0CD6-47DD-B648-4C84C783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0082B-17D7-4D61-8AEB-81517D85D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70783-FF31-4C4E-9196-EB169B209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2E260-747D-40FD-A062-9DD5E6835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E50A0-1E05-49C5-88C9-46267751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3064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D7521-E43D-41D1-B458-26B20DC6D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72CF2-2653-4B98-A416-D7A0A860EC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F87F5-0B10-4AC7-9599-F088C5E796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07CB7-0520-4D64-B76C-C31AC557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EEB226-AD45-45DF-AAB5-5513AE732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96AEB-9481-4CCE-B110-FEDD3348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21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EC5685-19F1-49DA-ADE5-D5D32F16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C0A4D-22A1-4554-B5DE-887974F4D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D5CDC-F2CE-410E-AD13-DDC235C71C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0CD45-794A-4BB0-A427-0CE61AEAF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3AB91-9588-4071-92D2-364F4A6ED0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9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s.cmu.edu/~15316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tags" Target="../tags/tag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4" Type="http://schemas.openxmlformats.org/officeDocument/2006/relationships/hyperlink" Target="https://piazza.com/cmu/spring2026/1531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24A6-1F9E-8704-414B-7A38B76683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83859" y="2743200"/>
            <a:ext cx="8602173" cy="2386584"/>
          </a:xfrm>
        </p:spPr>
        <p:txBody>
          <a:bodyPr>
            <a:normAutofit fontScale="90000"/>
          </a:bodyPr>
          <a:lstStyle/>
          <a:p>
            <a:r>
              <a:rPr lang="en-US" dirty="0"/>
              <a:t>15-316: Software Foundations of Security and Privacy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B27AE8-51CF-3BD1-4F5A-E8FE751E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Spring 2026</a:t>
            </a:r>
          </a:p>
        </p:txBody>
      </p:sp>
    </p:spTree>
    <p:extLst>
      <p:ext uri="{BB962C8B-B14F-4D97-AF65-F5344CB8AC3E}">
        <p14:creationId xmlns:p14="http://schemas.microsoft.com/office/powerpoint/2010/main" val="107986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FCBF96-A8BD-E417-7D67-E216E103F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365125"/>
            <a:ext cx="10515600" cy="1325563"/>
          </a:xfrm>
        </p:spPr>
        <p:txBody>
          <a:bodyPr/>
          <a:lstStyle/>
          <a:p>
            <a:pPr algn="l"/>
            <a:r>
              <a:rPr lang="en-US" dirty="0"/>
              <a:t>Course Staff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093E2F-ED0C-9621-9C1C-E2951B9962B3}"/>
              </a:ext>
            </a:extLst>
          </p:cNvPr>
          <p:cNvGrpSpPr/>
          <p:nvPr/>
        </p:nvGrpSpPr>
        <p:grpSpPr>
          <a:xfrm>
            <a:off x="2917999" y="1730937"/>
            <a:ext cx="6356003" cy="4761938"/>
            <a:chOff x="3038000" y="1730937"/>
            <a:chExt cx="6356003" cy="476193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FAB0379-B5A6-A331-69EB-8D4F724B0368}"/>
                </a:ext>
              </a:extLst>
            </p:cNvPr>
            <p:cNvGrpSpPr/>
            <p:nvPr/>
          </p:nvGrpSpPr>
          <p:grpSpPr>
            <a:xfrm>
              <a:off x="5337417" y="4402866"/>
              <a:ext cx="1517166" cy="2090009"/>
              <a:chOff x="3706564" y="4067926"/>
              <a:chExt cx="1517166" cy="2090009"/>
            </a:xfrm>
          </p:grpSpPr>
          <p:pic>
            <p:nvPicPr>
              <p:cNvPr id="2" name="Picture 2" descr="Avatar">
                <a:extLst>
                  <a:ext uri="{FF2B5EF4-FFF2-40B4-BE49-F238E27FC236}">
                    <a16:creationId xmlns:a16="http://schemas.microsoft.com/office/drawing/2014/main" id="{B6509C91-0125-AF8C-2159-63F4A66B00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06564" y="4067926"/>
                <a:ext cx="1517166" cy="1517166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A04923-EEEB-5811-C262-6311CCCFB781}"/>
                  </a:ext>
                </a:extLst>
              </p:cNvPr>
              <p:cNvSpPr txBox="1"/>
              <p:nvPr/>
            </p:nvSpPr>
            <p:spPr>
              <a:xfrm>
                <a:off x="3853313" y="5788603"/>
                <a:ext cx="12236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Eleanor Li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9AFAB2B-5BAD-A55F-9768-E4B0F1777895}"/>
                </a:ext>
              </a:extLst>
            </p:cNvPr>
            <p:cNvGrpSpPr/>
            <p:nvPr/>
          </p:nvGrpSpPr>
          <p:grpSpPr>
            <a:xfrm>
              <a:off x="3076088" y="1730937"/>
              <a:ext cx="1518682" cy="2037400"/>
              <a:chOff x="1445235" y="1395997"/>
              <a:chExt cx="1518682" cy="2037400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3C8682-29F5-9714-DA8A-7F7E08C68D13}"/>
                  </a:ext>
                </a:extLst>
              </p:cNvPr>
              <p:cNvSpPr txBox="1"/>
              <p:nvPr/>
            </p:nvSpPr>
            <p:spPr>
              <a:xfrm>
                <a:off x="1572640" y="3064065"/>
                <a:ext cx="12638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Justin Zou</a:t>
                </a:r>
              </a:p>
            </p:txBody>
          </p:sp>
          <p:pic>
            <p:nvPicPr>
              <p:cNvPr id="8" name="Picture 2" descr="Justin Zou profile image">
                <a:extLst>
                  <a:ext uri="{FF2B5EF4-FFF2-40B4-BE49-F238E27FC236}">
                    <a16:creationId xmlns:a16="http://schemas.microsoft.com/office/drawing/2014/main" id="{FEA61FF4-2CE8-D584-22F4-F48BE6BFDF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45235" y="1395997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176AF35-4C86-B104-CF9C-6EDF6E075932}"/>
                </a:ext>
              </a:extLst>
            </p:cNvPr>
            <p:cNvGrpSpPr/>
            <p:nvPr/>
          </p:nvGrpSpPr>
          <p:grpSpPr>
            <a:xfrm>
              <a:off x="5293672" y="1755101"/>
              <a:ext cx="1518682" cy="2013236"/>
              <a:chOff x="3662819" y="1420161"/>
              <a:chExt cx="1518682" cy="2013236"/>
            </a:xfrm>
          </p:grpSpPr>
          <p:pic>
            <p:nvPicPr>
              <p:cNvPr id="15" name="Picture 6" descr="Profile photo of Keya Mann">
                <a:extLst>
                  <a:ext uri="{FF2B5EF4-FFF2-40B4-BE49-F238E27FC236}">
                    <a16:creationId xmlns:a16="http://schemas.microsoft.com/office/drawing/2014/main" id="{E413880A-A0BE-E792-5D7F-444E27428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662819" y="1420161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AB651D-1A72-5E9A-9F7B-5087C61D671F}"/>
                  </a:ext>
                </a:extLst>
              </p:cNvPr>
              <p:cNvSpPr txBox="1"/>
              <p:nvPr/>
            </p:nvSpPr>
            <p:spPr>
              <a:xfrm>
                <a:off x="3749764" y="3064065"/>
                <a:ext cx="13447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Keya Mann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41E449B-C2A0-242B-6144-9E6EEEC45315}"/>
                </a:ext>
              </a:extLst>
            </p:cNvPr>
            <p:cNvGrpSpPr/>
            <p:nvPr/>
          </p:nvGrpSpPr>
          <p:grpSpPr>
            <a:xfrm>
              <a:off x="7066571" y="1755101"/>
              <a:ext cx="2327432" cy="2013236"/>
              <a:chOff x="5435718" y="1420161"/>
              <a:chExt cx="2327432" cy="2013236"/>
            </a:xfrm>
          </p:grpSpPr>
          <p:pic>
            <p:nvPicPr>
              <p:cNvPr id="1032" name="Picture 8" descr="Profile photo of Sanjana Kuchibhotla">
                <a:extLst>
                  <a:ext uri="{FF2B5EF4-FFF2-40B4-BE49-F238E27FC236}">
                    <a16:creationId xmlns:a16="http://schemas.microsoft.com/office/drawing/2014/main" id="{CBFF768F-C231-09D9-48DC-AE545B5571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0093" y="1420161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74E35C-8A0E-4043-9771-7DE8CAB8A28A}"/>
                  </a:ext>
                </a:extLst>
              </p:cNvPr>
              <p:cNvSpPr txBox="1"/>
              <p:nvPr/>
            </p:nvSpPr>
            <p:spPr>
              <a:xfrm>
                <a:off x="5435718" y="3064065"/>
                <a:ext cx="2327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Sanjana Kuchibhotla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B559457-7D28-3149-45B5-C7796B55AF65}"/>
                </a:ext>
              </a:extLst>
            </p:cNvPr>
            <p:cNvGrpSpPr/>
            <p:nvPr/>
          </p:nvGrpSpPr>
          <p:grpSpPr>
            <a:xfrm>
              <a:off x="3038000" y="4402866"/>
              <a:ext cx="1631857" cy="2090009"/>
              <a:chOff x="1407147" y="4067926"/>
              <a:chExt cx="1631857" cy="2090009"/>
            </a:xfrm>
          </p:grpSpPr>
          <p:pic>
            <p:nvPicPr>
              <p:cNvPr id="1036" name="Picture 12" descr="Profile photo of Yuchen Wang">
                <a:extLst>
                  <a:ext uri="{FF2B5EF4-FFF2-40B4-BE49-F238E27FC236}">
                    <a16:creationId xmlns:a16="http://schemas.microsoft.com/office/drawing/2014/main" id="{FAC7ACCD-D345-D5EA-618D-B697A6500E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63735" y="4067926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6071D46-A84A-E87B-7549-09C653A3F0E8}"/>
                  </a:ext>
                </a:extLst>
              </p:cNvPr>
              <p:cNvSpPr txBox="1"/>
              <p:nvPr/>
            </p:nvSpPr>
            <p:spPr>
              <a:xfrm>
                <a:off x="1407147" y="5788603"/>
                <a:ext cx="16318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Yuchen Wang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6F99D22-3C5E-A95F-5BCD-799E4D23F9D5}"/>
                </a:ext>
              </a:extLst>
            </p:cNvPr>
            <p:cNvGrpSpPr/>
            <p:nvPr/>
          </p:nvGrpSpPr>
          <p:grpSpPr>
            <a:xfrm>
              <a:off x="7472794" y="4483029"/>
              <a:ext cx="1514985" cy="2009846"/>
              <a:chOff x="5841941" y="4148089"/>
              <a:chExt cx="1514985" cy="2009846"/>
            </a:xfrm>
          </p:grpSpPr>
          <p:pic>
            <p:nvPicPr>
              <p:cNvPr id="1038" name="Picture 14">
                <a:extLst>
                  <a:ext uri="{FF2B5EF4-FFF2-40B4-BE49-F238E27FC236}">
                    <a16:creationId xmlns:a16="http://schemas.microsoft.com/office/drawing/2014/main" id="{FF839AA8-B1EF-BA9B-A498-75C536CE48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02" b="14338"/>
              <a:stretch>
                <a:fillRect/>
              </a:stretch>
            </p:blipFill>
            <p:spPr bwMode="auto">
              <a:xfrm>
                <a:off x="5841941" y="4148089"/>
                <a:ext cx="1514985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9F0389D-632E-F04A-D75B-80F3810CD218}"/>
                  </a:ext>
                </a:extLst>
              </p:cNvPr>
              <p:cNvSpPr txBox="1"/>
              <p:nvPr/>
            </p:nvSpPr>
            <p:spPr>
              <a:xfrm>
                <a:off x="5891290" y="5788603"/>
                <a:ext cx="14162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Jackson Ma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823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B1EA3-0080-44AB-1FF9-E9DBD19B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Failed Attempts at Security: Netflix Prize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29FB0-2013-3C81-53D7-EC032376A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1911096"/>
            <a:ext cx="7071539" cy="3859742"/>
          </a:xfrm>
        </p:spPr>
        <p:txBody>
          <a:bodyPr>
            <a:normAutofit/>
          </a:bodyPr>
          <a:lstStyle/>
          <a:p>
            <a:r>
              <a:rPr lang="en-US" sz="2400" dirty="0"/>
              <a:t>$1million competition to improve Netflix’s recommendation system</a:t>
            </a:r>
          </a:p>
          <a:p>
            <a:endParaRPr lang="en-US" sz="2400" dirty="0"/>
          </a:p>
          <a:p>
            <a:r>
              <a:rPr lang="en-US" sz="2400" dirty="0"/>
              <a:t>100 million ratings from 500,000 users</a:t>
            </a:r>
          </a:p>
          <a:p>
            <a:endParaRPr lang="en-US" sz="2400" dirty="0"/>
          </a:p>
          <a:p>
            <a:r>
              <a:rPr lang="en-US" sz="2400" i="1" dirty="0"/>
              <a:t>“All customer identifying information has been removed; all that remains are ratings and dates … only a small sample was included, and that data was subject to perturbation”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71FE7C-CC96-1EA4-87DD-9DCB21E76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9361" y="2395203"/>
            <a:ext cx="3975850" cy="289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868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4D9A5-5D03-5912-F5F2-90F673A9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digression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D726-88CE-5524-27FB-63611F3BA6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065806" cy="4351338"/>
          </a:xfrm>
        </p:spPr>
        <p:txBody>
          <a:bodyPr>
            <a:normAutofit/>
          </a:bodyPr>
          <a:lstStyle/>
          <a:p>
            <a:r>
              <a:rPr lang="en-US" sz="2400" dirty="0"/>
              <a:t>October 1987: US Senate rejects Robert Bork’s SCOTUS nomination 42-58</a:t>
            </a:r>
          </a:p>
          <a:p>
            <a:r>
              <a:rPr lang="en-US" sz="2400" dirty="0"/>
              <a:t>Ted Kennedy, 45 minutes after Bork’s nomination:</a:t>
            </a:r>
          </a:p>
          <a:p>
            <a:pPr marL="457200" lvl="1" indent="0">
              <a:buNone/>
            </a:pPr>
            <a:r>
              <a:rPr lang="en-US" sz="1800" i="1" dirty="0"/>
              <a:t>“Robert Bork's America is a land in which women would be forced into back-alley abortions, blacks would sit at segregated lunch counters, rogue police could break down citizens' doors in midnight raids, and schoolchildren could not be taught about evolution…”</a:t>
            </a:r>
          </a:p>
          <a:p>
            <a:r>
              <a:rPr lang="en-US" sz="2200" dirty="0"/>
              <a:t>During the debate, Bork’s video rental history was leaked to the press</a:t>
            </a:r>
          </a:p>
        </p:txBody>
      </p:sp>
      <p:pic>
        <p:nvPicPr>
          <p:cNvPr id="2050" name="Picture 2" descr="Bork fight still still haunts Supreme Court confirmation process">
            <a:extLst>
              <a:ext uri="{FF2B5EF4-FFF2-40B4-BE49-F238E27FC236}">
                <a16:creationId xmlns:a16="http://schemas.microsoft.com/office/drawing/2014/main" id="{3B18BFEF-47EA-A3EA-82CB-0E99D9DCEF7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812" y="2301572"/>
            <a:ext cx="4320988" cy="2834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FA5C74-70B5-790C-AA63-F7FE07954507}"/>
              </a:ext>
            </a:extLst>
          </p:cNvPr>
          <p:cNvSpPr txBox="1"/>
          <p:nvPr/>
        </p:nvSpPr>
        <p:spPr>
          <a:xfrm>
            <a:off x="8229600" y="5136401"/>
            <a:ext cx="32530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Image source: Associated Press, 1987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C651A5-7653-07E7-61B4-59D0FDD45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401" y="2301571"/>
            <a:ext cx="5039697" cy="2834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383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831A-C05B-3D47-7097-95B75E785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Damning revelations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773064-7348-BD14-49B4-46E2F3608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0148" y="2197050"/>
            <a:ext cx="20955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CED5A94-DBAB-43BA-F7B9-D286D9CD1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076" y="2187525"/>
            <a:ext cx="209550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C4B4901A-8B0B-8C79-4527-95834D136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8004" y="2158950"/>
            <a:ext cx="2095500" cy="3190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D0D43722-F5D1-13DB-4B39-D59C5534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6932" y="2197050"/>
            <a:ext cx="209550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7310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C26DD-457E-4EB6-4622-76A7C2189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Privacy Protection Act of 1988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31B7A-3B58-6D27-164C-D0D6F20C8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678431" cy="4351338"/>
          </a:xfrm>
        </p:spPr>
        <p:txBody>
          <a:bodyPr>
            <a:normAutofit/>
          </a:bodyPr>
          <a:lstStyle/>
          <a:p>
            <a:r>
              <a:rPr lang="en-US" sz="2000" b="0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18 U.S. Code § 2710 –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333333"/>
                </a:solidFill>
                <a:latin typeface="Verdana" panose="020B0604030504040204" pitchFamily="34" charset="0"/>
              </a:rPr>
              <a:t>   </a:t>
            </a:r>
            <a:r>
              <a:rPr lang="en-US" sz="1800" b="1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Wrongful disclosure of video tape rental or sale records</a:t>
            </a:r>
            <a:endParaRPr lang="en-US" sz="2000" b="1" i="0" dirty="0">
              <a:solidFill>
                <a:srgbClr val="333333"/>
              </a:solidFill>
              <a:effectLst/>
              <a:latin typeface="Verdana" panose="020B0604030504040204" pitchFamily="34" charset="0"/>
            </a:endParaRPr>
          </a:p>
          <a:p>
            <a:r>
              <a:rPr lang="en-US" sz="2000" b="1" i="1" dirty="0"/>
              <a:t>(b)(1)</a:t>
            </a:r>
            <a:r>
              <a:rPr lang="en-US" sz="2000" i="1" dirty="0"/>
              <a:t> A </a:t>
            </a:r>
            <a:r>
              <a:rPr lang="en-US" sz="2000" dirty="0">
                <a:solidFill>
                  <a:srgbClr val="FF0000"/>
                </a:solidFill>
              </a:rPr>
              <a:t>video tape service provider</a:t>
            </a:r>
            <a:r>
              <a:rPr lang="en-US" sz="2000" i="1" dirty="0"/>
              <a:t> who knowingly discloses, to any person, </a:t>
            </a:r>
            <a:r>
              <a:rPr lang="en-US" sz="2000" dirty="0">
                <a:solidFill>
                  <a:srgbClr val="FF0000"/>
                </a:solidFill>
              </a:rPr>
              <a:t>personally identifiable information</a:t>
            </a:r>
            <a:r>
              <a:rPr lang="en-US" sz="2000" i="1" dirty="0"/>
              <a:t> concerning any </a:t>
            </a:r>
            <a:r>
              <a:rPr lang="en-US" sz="2000" dirty="0">
                <a:solidFill>
                  <a:srgbClr val="FF0000"/>
                </a:solidFill>
              </a:rPr>
              <a:t>consumer</a:t>
            </a:r>
            <a:r>
              <a:rPr lang="en-US" sz="2000" i="1" dirty="0"/>
              <a:t> of such provider shall be liable to the aggrieved person for the relief provided in subsection </a:t>
            </a:r>
            <a:r>
              <a:rPr lang="en-US" sz="2000" b="1" i="1" dirty="0"/>
              <a:t>(c)</a:t>
            </a:r>
            <a:r>
              <a:rPr lang="en-US" sz="2000" i="1" dirty="0"/>
              <a:t>.</a:t>
            </a:r>
          </a:p>
          <a:p>
            <a:r>
              <a:rPr lang="en-US" sz="2000" b="1" i="1" dirty="0"/>
              <a:t>(c)(2)</a:t>
            </a:r>
            <a:r>
              <a:rPr lang="en-US" sz="2000" i="1" dirty="0"/>
              <a:t> The court may award—actual damages but not less than liquidated damages in an amount of $2,500; punitive damages; reasonable attorneys’ fees; and such other preliminary and equitable relief as the court deems appropriate.</a:t>
            </a:r>
            <a:endParaRPr lang="en-US" sz="1600" i="1" dirty="0"/>
          </a:p>
          <a:p>
            <a:endParaRPr lang="en-US" sz="2000" i="1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70A8E35-DE03-6780-D7B9-34AA36625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4730" y="1481699"/>
            <a:ext cx="2894479" cy="4091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835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8A5F9-6FB1-336D-6B40-8FBA870E55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2426844"/>
            <a:ext cx="7157383" cy="1386767"/>
          </a:xfrm>
        </p:spPr>
        <p:txBody>
          <a:bodyPr>
            <a:normAutofit/>
          </a:bodyPr>
          <a:lstStyle/>
          <a:p>
            <a:r>
              <a:rPr lang="en-US" sz="2000" b="1" dirty="0"/>
              <a:t>Recall:</a:t>
            </a:r>
            <a:r>
              <a:rPr lang="en-US" sz="2000" dirty="0"/>
              <a:t> </a:t>
            </a:r>
            <a:r>
              <a:rPr lang="en-US" sz="2000" i="1" dirty="0"/>
              <a:t>“All customer identifying information has been removed; all that remains are ratings and dates … only a small sample was included, and that data was subject to perturbation”</a:t>
            </a:r>
          </a:p>
          <a:p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354727-4B09-8298-53D7-51D29A71D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631" y="424456"/>
            <a:ext cx="6390081" cy="169277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7FEB5A8B-97C6-F207-1C23-5A4700345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734106"/>
              </p:ext>
            </p:extLst>
          </p:nvPr>
        </p:nvGraphicFramePr>
        <p:xfrm>
          <a:off x="611045" y="3909232"/>
          <a:ext cx="10890460" cy="156972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089046">
                  <a:extLst>
                    <a:ext uri="{9D8B030D-6E8A-4147-A177-3AD203B41FA5}">
                      <a16:colId xmlns:a16="http://schemas.microsoft.com/office/drawing/2014/main" val="2132119611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349697209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2181491307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153213966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694078136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135358107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2416772859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1445709980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1695014742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1193739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The Godfather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12 Angry Men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Jurassic</a:t>
                      </a:r>
                    </a:p>
                    <a:p>
                      <a:pPr algn="ctr"/>
                      <a:r>
                        <a:rPr lang="en-US" sz="1200" dirty="0"/>
                        <a:t>Park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Les Chiens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Bye </a:t>
                      </a:r>
                      <a:r>
                        <a:rPr lang="en-US" sz="1200" dirty="0" err="1"/>
                        <a:t>Bye</a:t>
                      </a:r>
                      <a:r>
                        <a:rPr lang="en-US" sz="1200" dirty="0"/>
                        <a:t> Monkey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/>
                        <a:t>Themroc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Sumo Do, Sumo Don’t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Spies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7048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5262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2450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User3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9733680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FF1C1F0C-0170-509B-3F03-59F44EFC8640}"/>
              </a:ext>
            </a:extLst>
          </p:cNvPr>
          <p:cNvGrpSpPr/>
          <p:nvPr/>
        </p:nvGrpSpPr>
        <p:grpSpPr>
          <a:xfrm>
            <a:off x="1705292" y="5514275"/>
            <a:ext cx="3243738" cy="564803"/>
            <a:chOff x="1705292" y="5514275"/>
            <a:chExt cx="3243738" cy="564803"/>
          </a:xfrm>
        </p:grpSpPr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608BBDBD-242A-8A73-DCDA-98DBB4AFE6D5}"/>
                </a:ext>
              </a:extLst>
            </p:cNvPr>
            <p:cNvSpPr/>
            <p:nvPr/>
          </p:nvSpPr>
          <p:spPr>
            <a:xfrm rot="16200000">
              <a:off x="3214486" y="4005081"/>
              <a:ext cx="225349" cy="3243738"/>
            </a:xfrm>
            <a:custGeom>
              <a:avLst/>
              <a:gdLst>
                <a:gd name="csX0" fmla="*/ 225349 w 225349"/>
                <a:gd name="csY0" fmla="*/ 3243738 h 3243738"/>
                <a:gd name="csX1" fmla="*/ 112674 w 225349"/>
                <a:gd name="csY1" fmla="*/ 3224960 h 3243738"/>
                <a:gd name="csX2" fmla="*/ 112675 w 225349"/>
                <a:gd name="csY2" fmla="*/ 1640647 h 3243738"/>
                <a:gd name="csX3" fmla="*/ 0 w 225349"/>
                <a:gd name="csY3" fmla="*/ 1621869 h 3243738"/>
                <a:gd name="csX4" fmla="*/ 112675 w 225349"/>
                <a:gd name="csY4" fmla="*/ 1603091 h 3243738"/>
                <a:gd name="csX5" fmla="*/ 112675 w 225349"/>
                <a:gd name="csY5" fmla="*/ 18778 h 3243738"/>
                <a:gd name="csX6" fmla="*/ 225350 w 225349"/>
                <a:gd name="csY6" fmla="*/ 0 h 3243738"/>
                <a:gd name="csX7" fmla="*/ 225349 w 225349"/>
                <a:gd name="csY7" fmla="*/ 3243738 h 3243738"/>
                <a:gd name="csX0" fmla="*/ 225349 w 225349"/>
                <a:gd name="csY0" fmla="*/ 3243738 h 3243738"/>
                <a:gd name="csX1" fmla="*/ 112674 w 225349"/>
                <a:gd name="csY1" fmla="*/ 3224960 h 3243738"/>
                <a:gd name="csX2" fmla="*/ 112675 w 225349"/>
                <a:gd name="csY2" fmla="*/ 1640647 h 3243738"/>
                <a:gd name="csX3" fmla="*/ 0 w 225349"/>
                <a:gd name="csY3" fmla="*/ 1621869 h 3243738"/>
                <a:gd name="csX4" fmla="*/ 112675 w 225349"/>
                <a:gd name="csY4" fmla="*/ 1603091 h 3243738"/>
                <a:gd name="csX5" fmla="*/ 112675 w 225349"/>
                <a:gd name="csY5" fmla="*/ 18778 h 3243738"/>
                <a:gd name="csX6" fmla="*/ 225350 w 225349"/>
                <a:gd name="csY6" fmla="*/ 0 h 3243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349" h="3243738" stroke="0" extrusionOk="0">
                  <a:moveTo>
                    <a:pt x="225349" y="3243738"/>
                  </a:moveTo>
                  <a:cubicBezTo>
                    <a:pt x="165127" y="3243991"/>
                    <a:pt x="112953" y="3234227"/>
                    <a:pt x="112674" y="3224960"/>
                  </a:cubicBezTo>
                  <a:cubicBezTo>
                    <a:pt x="48629" y="2674079"/>
                    <a:pt x="75290" y="2146555"/>
                    <a:pt x="112675" y="1640647"/>
                  </a:cubicBezTo>
                  <a:cubicBezTo>
                    <a:pt x="114962" y="1627072"/>
                    <a:pt x="66043" y="1621427"/>
                    <a:pt x="0" y="1621869"/>
                  </a:cubicBezTo>
                  <a:cubicBezTo>
                    <a:pt x="62459" y="1621603"/>
                    <a:pt x="111831" y="1614191"/>
                    <a:pt x="112675" y="1603091"/>
                  </a:cubicBezTo>
                  <a:cubicBezTo>
                    <a:pt x="4881" y="1243482"/>
                    <a:pt x="140271" y="309767"/>
                    <a:pt x="112675" y="18778"/>
                  </a:cubicBezTo>
                  <a:cubicBezTo>
                    <a:pt x="112968" y="10066"/>
                    <a:pt x="157014" y="-5939"/>
                    <a:pt x="225350" y="0"/>
                  </a:cubicBezTo>
                  <a:cubicBezTo>
                    <a:pt x="136888" y="1044488"/>
                    <a:pt x="330896" y="2193879"/>
                    <a:pt x="225349" y="3243738"/>
                  </a:cubicBezTo>
                  <a:close/>
                </a:path>
                <a:path w="225349" h="3243738" fill="none" extrusionOk="0">
                  <a:moveTo>
                    <a:pt x="225349" y="3243738"/>
                  </a:moveTo>
                  <a:cubicBezTo>
                    <a:pt x="163625" y="3243598"/>
                    <a:pt x="112328" y="3235381"/>
                    <a:pt x="112674" y="3224960"/>
                  </a:cubicBezTo>
                  <a:cubicBezTo>
                    <a:pt x="75456" y="2617171"/>
                    <a:pt x="149390" y="2131701"/>
                    <a:pt x="112675" y="1640647"/>
                  </a:cubicBezTo>
                  <a:cubicBezTo>
                    <a:pt x="111939" y="1630946"/>
                    <a:pt x="67291" y="1629138"/>
                    <a:pt x="0" y="1621869"/>
                  </a:cubicBezTo>
                  <a:cubicBezTo>
                    <a:pt x="61764" y="1623493"/>
                    <a:pt x="113632" y="1612615"/>
                    <a:pt x="112675" y="1603091"/>
                  </a:cubicBezTo>
                  <a:cubicBezTo>
                    <a:pt x="214832" y="1084418"/>
                    <a:pt x="129067" y="253502"/>
                    <a:pt x="112675" y="18778"/>
                  </a:cubicBezTo>
                  <a:cubicBezTo>
                    <a:pt x="106447" y="8398"/>
                    <a:pt x="156681" y="5522"/>
                    <a:pt x="225350" y="0"/>
                  </a:cubicBezTo>
                </a:path>
                <a:path w="225349" h="3243738" fill="none" stroke="0" extrusionOk="0">
                  <a:moveTo>
                    <a:pt x="225349" y="3243738"/>
                  </a:moveTo>
                  <a:cubicBezTo>
                    <a:pt x="162156" y="3242848"/>
                    <a:pt x="112887" y="3235334"/>
                    <a:pt x="112674" y="3224960"/>
                  </a:cubicBezTo>
                  <a:cubicBezTo>
                    <a:pt x="71629" y="2666830"/>
                    <a:pt x="98361" y="2093037"/>
                    <a:pt x="112675" y="1640647"/>
                  </a:cubicBezTo>
                  <a:cubicBezTo>
                    <a:pt x="113952" y="1638346"/>
                    <a:pt x="63182" y="1618130"/>
                    <a:pt x="0" y="1621869"/>
                  </a:cubicBezTo>
                  <a:cubicBezTo>
                    <a:pt x="61218" y="1621743"/>
                    <a:pt x="114504" y="1612521"/>
                    <a:pt x="112675" y="1603091"/>
                  </a:cubicBezTo>
                  <a:cubicBezTo>
                    <a:pt x="99354" y="865627"/>
                    <a:pt x="184119" y="621605"/>
                    <a:pt x="112675" y="18778"/>
                  </a:cubicBezTo>
                  <a:cubicBezTo>
                    <a:pt x="115749" y="9627"/>
                    <a:pt x="161834" y="566"/>
                    <a:pt x="225350" y="0"/>
                  </a:cubicBezTo>
                </a:path>
              </a:pathLst>
            </a:custGeom>
            <a:ln w="19050">
              <a:extLst>
                <a:ext uri="{C807C97D-BFC1-408E-A445-0C87EB9F89A2}">
                  <ask:lineSketchStyleProps xmlns:ask="http://schemas.microsoft.com/office/drawing/2018/sketchyshapes" sd="1526066285">
                    <a:prstGeom prst="leftBrace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8CF4C4-E7AC-6D71-6D30-025E90BCA1E1}"/>
                </a:ext>
              </a:extLst>
            </p:cNvPr>
            <p:cNvSpPr txBox="1"/>
            <p:nvPr/>
          </p:nvSpPr>
          <p:spPr>
            <a:xfrm>
              <a:off x="2322654" y="5709746"/>
              <a:ext cx="200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Commonly Rated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05A27E3-80F8-8B45-99BA-F0A54496B0B0}"/>
              </a:ext>
            </a:extLst>
          </p:cNvPr>
          <p:cNvGrpSpPr/>
          <p:nvPr/>
        </p:nvGrpSpPr>
        <p:grpSpPr>
          <a:xfrm>
            <a:off x="6056275" y="5514275"/>
            <a:ext cx="5445231" cy="565617"/>
            <a:chOff x="6056275" y="5514275"/>
            <a:chExt cx="5445231" cy="565617"/>
          </a:xfrm>
        </p:grpSpPr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ABBE9CA-5B8B-C8D1-5783-D411B9FC7E2D}"/>
                </a:ext>
              </a:extLst>
            </p:cNvPr>
            <p:cNvSpPr/>
            <p:nvPr/>
          </p:nvSpPr>
          <p:spPr>
            <a:xfrm rot="16200000">
              <a:off x="8666216" y="2904334"/>
              <a:ext cx="225349" cy="5445231"/>
            </a:xfrm>
            <a:custGeom>
              <a:avLst/>
              <a:gdLst>
                <a:gd name="csX0" fmla="*/ 225349 w 225349"/>
                <a:gd name="csY0" fmla="*/ 5445231 h 5445231"/>
                <a:gd name="csX1" fmla="*/ 112674 w 225349"/>
                <a:gd name="csY1" fmla="*/ 5426453 h 5445231"/>
                <a:gd name="csX2" fmla="*/ 112675 w 225349"/>
                <a:gd name="csY2" fmla="*/ 2741394 h 5445231"/>
                <a:gd name="csX3" fmla="*/ 0 w 225349"/>
                <a:gd name="csY3" fmla="*/ 2722616 h 5445231"/>
                <a:gd name="csX4" fmla="*/ 112675 w 225349"/>
                <a:gd name="csY4" fmla="*/ 2703838 h 5445231"/>
                <a:gd name="csX5" fmla="*/ 112675 w 225349"/>
                <a:gd name="csY5" fmla="*/ 18778 h 5445231"/>
                <a:gd name="csX6" fmla="*/ 225350 w 225349"/>
                <a:gd name="csY6" fmla="*/ 0 h 5445231"/>
                <a:gd name="csX7" fmla="*/ 225349 w 225349"/>
                <a:gd name="csY7" fmla="*/ 5445231 h 5445231"/>
                <a:gd name="csX0" fmla="*/ 225349 w 225349"/>
                <a:gd name="csY0" fmla="*/ 5445231 h 5445231"/>
                <a:gd name="csX1" fmla="*/ 112674 w 225349"/>
                <a:gd name="csY1" fmla="*/ 5426453 h 5445231"/>
                <a:gd name="csX2" fmla="*/ 112675 w 225349"/>
                <a:gd name="csY2" fmla="*/ 2741394 h 5445231"/>
                <a:gd name="csX3" fmla="*/ 0 w 225349"/>
                <a:gd name="csY3" fmla="*/ 2722616 h 5445231"/>
                <a:gd name="csX4" fmla="*/ 112675 w 225349"/>
                <a:gd name="csY4" fmla="*/ 2703838 h 5445231"/>
                <a:gd name="csX5" fmla="*/ 112675 w 225349"/>
                <a:gd name="csY5" fmla="*/ 18778 h 5445231"/>
                <a:gd name="csX6" fmla="*/ 225350 w 225349"/>
                <a:gd name="csY6" fmla="*/ 0 h 54452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349" h="5445231" stroke="0" extrusionOk="0">
                  <a:moveTo>
                    <a:pt x="225349" y="5445231"/>
                  </a:moveTo>
                  <a:cubicBezTo>
                    <a:pt x="165127" y="5445484"/>
                    <a:pt x="112953" y="5435720"/>
                    <a:pt x="112674" y="5426453"/>
                  </a:cubicBezTo>
                  <a:cubicBezTo>
                    <a:pt x="19127" y="4498164"/>
                    <a:pt x="86634" y="3620954"/>
                    <a:pt x="112675" y="2741394"/>
                  </a:cubicBezTo>
                  <a:cubicBezTo>
                    <a:pt x="114962" y="2727819"/>
                    <a:pt x="66043" y="2722174"/>
                    <a:pt x="0" y="2722616"/>
                  </a:cubicBezTo>
                  <a:cubicBezTo>
                    <a:pt x="62459" y="2722350"/>
                    <a:pt x="111831" y="2714938"/>
                    <a:pt x="112675" y="2703838"/>
                  </a:cubicBezTo>
                  <a:cubicBezTo>
                    <a:pt x="46040" y="1479779"/>
                    <a:pt x="27362" y="363247"/>
                    <a:pt x="112675" y="18778"/>
                  </a:cubicBezTo>
                  <a:cubicBezTo>
                    <a:pt x="112968" y="10066"/>
                    <a:pt x="157014" y="-5939"/>
                    <a:pt x="225350" y="0"/>
                  </a:cubicBezTo>
                  <a:cubicBezTo>
                    <a:pt x="-23132" y="1711827"/>
                    <a:pt x="547966" y="3726091"/>
                    <a:pt x="225349" y="5445231"/>
                  </a:cubicBezTo>
                  <a:close/>
                </a:path>
                <a:path w="225349" h="5445231" fill="none" extrusionOk="0">
                  <a:moveTo>
                    <a:pt x="225349" y="5445231"/>
                  </a:moveTo>
                  <a:cubicBezTo>
                    <a:pt x="163625" y="5445091"/>
                    <a:pt x="112328" y="5436874"/>
                    <a:pt x="112674" y="5426453"/>
                  </a:cubicBezTo>
                  <a:cubicBezTo>
                    <a:pt x="47967" y="4392893"/>
                    <a:pt x="165400" y="3583207"/>
                    <a:pt x="112675" y="2741394"/>
                  </a:cubicBezTo>
                  <a:cubicBezTo>
                    <a:pt x="111939" y="2731693"/>
                    <a:pt x="67291" y="2729885"/>
                    <a:pt x="0" y="2722616"/>
                  </a:cubicBezTo>
                  <a:cubicBezTo>
                    <a:pt x="61764" y="2724240"/>
                    <a:pt x="113632" y="2713362"/>
                    <a:pt x="112675" y="2703838"/>
                  </a:cubicBezTo>
                  <a:cubicBezTo>
                    <a:pt x="182844" y="1747662"/>
                    <a:pt x="275724" y="320334"/>
                    <a:pt x="112675" y="18778"/>
                  </a:cubicBezTo>
                  <a:cubicBezTo>
                    <a:pt x="106447" y="8398"/>
                    <a:pt x="156681" y="5522"/>
                    <a:pt x="225350" y="0"/>
                  </a:cubicBezTo>
                </a:path>
                <a:path w="225349" h="5445231" fill="none" stroke="0" extrusionOk="0">
                  <a:moveTo>
                    <a:pt x="225349" y="5445231"/>
                  </a:moveTo>
                  <a:cubicBezTo>
                    <a:pt x="162156" y="5444341"/>
                    <a:pt x="112887" y="5436827"/>
                    <a:pt x="112674" y="5426453"/>
                  </a:cubicBezTo>
                  <a:cubicBezTo>
                    <a:pt x="102540" y="4524019"/>
                    <a:pt x="99298" y="3565654"/>
                    <a:pt x="112675" y="2741394"/>
                  </a:cubicBezTo>
                  <a:cubicBezTo>
                    <a:pt x="113952" y="2739093"/>
                    <a:pt x="63182" y="2718877"/>
                    <a:pt x="0" y="2722616"/>
                  </a:cubicBezTo>
                  <a:cubicBezTo>
                    <a:pt x="61218" y="2722490"/>
                    <a:pt x="114504" y="2713268"/>
                    <a:pt x="112675" y="2703838"/>
                  </a:cubicBezTo>
                  <a:cubicBezTo>
                    <a:pt x="33725" y="1837019"/>
                    <a:pt x="210637" y="800239"/>
                    <a:pt x="112675" y="18778"/>
                  </a:cubicBezTo>
                  <a:cubicBezTo>
                    <a:pt x="115749" y="9627"/>
                    <a:pt x="161834" y="566"/>
                    <a:pt x="225350" y="0"/>
                  </a:cubicBezTo>
                </a:path>
              </a:pathLst>
            </a:custGeom>
            <a:ln w="19050">
              <a:extLst>
                <a:ext uri="{C807C97D-BFC1-408E-A445-0C87EB9F89A2}">
                  <ask:lineSketchStyleProps xmlns:ask="http://schemas.microsoft.com/office/drawing/2018/sketchyshapes" sd="1526066285">
                    <a:prstGeom prst="leftBrace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0BB134-3EF0-5D84-CDD3-B16445EA8030}"/>
                </a:ext>
              </a:extLst>
            </p:cNvPr>
            <p:cNvSpPr txBox="1"/>
            <p:nvPr/>
          </p:nvSpPr>
          <p:spPr>
            <a:xfrm>
              <a:off x="7926092" y="5710560"/>
              <a:ext cx="17055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Obscure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5423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C4EF-DB09-255F-A4B4-D0E63CC79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and identity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FA0ED-4F52-F9A4-241E-6E83A8ED335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186646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i="1" dirty="0"/>
                  <a:t>Entropy</a:t>
                </a:r>
                <a:r>
                  <a:rPr lang="en-US" sz="2000" dirty="0"/>
                  <a:t> is a measure of the uncertainty about a random outcome</a:t>
                </a:r>
              </a:p>
              <a:p>
                <a:r>
                  <a:rPr lang="en-US" sz="2000" dirty="0"/>
                  <a:t>Defined as the expected negative logarithm of the probability, measured over all outcomes</a:t>
                </a:r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𝐄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[−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/>
                  <a:t>Without any prior information about the outcome, how many bits do we need to uniquely identify a randomly-selected…</a:t>
                </a:r>
              </a:p>
              <a:p>
                <a:pPr lvl="1"/>
                <a:r>
                  <a:rPr lang="en-US" sz="2000" dirty="0"/>
                  <a:t>person on earth?</a:t>
                </a:r>
              </a:p>
              <a:p>
                <a:pPr marL="914400" lvl="2" indent="0">
                  <a:buNone/>
                </a:pPr>
                <a:r>
                  <a:rPr lang="en-US" sz="1800" dirty="0"/>
                  <a:t>log(7.75e9) = 32.9 bits</a:t>
                </a:r>
              </a:p>
              <a:p>
                <a:pPr lvl="1"/>
                <a:r>
                  <a:rPr lang="en-US" sz="2000" dirty="0"/>
                  <a:t>subject in the Netflix dataset?</a:t>
                </a:r>
              </a:p>
              <a:p>
                <a:pPr marL="914400" lvl="2" indent="0">
                  <a:buNone/>
                </a:pPr>
                <a:r>
                  <a:rPr lang="en-US" sz="1800" dirty="0"/>
                  <a:t>log(500000) = 18.9 bits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FA0ED-4F52-F9A4-241E-6E83A8ED33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186646" cy="4351338"/>
              </a:xfrm>
              <a:blipFill>
                <a:blip r:embed="rId2"/>
                <a:stretch>
                  <a:fillRect l="-888" t="-1261" r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250BEFE-F7C3-FBBA-B33C-9B1B84119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6195" y="1303361"/>
            <a:ext cx="3443226" cy="468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52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8E6DB-1CCF-CEA7-3857-0D8CDA54A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private information anyway?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F7C3E-A0F9-540B-80A0-9C157B37CC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60971" cy="4351338"/>
          </a:xfrm>
        </p:spPr>
        <p:txBody>
          <a:bodyPr>
            <a:normAutofit/>
          </a:bodyPr>
          <a:lstStyle/>
          <a:p>
            <a:r>
              <a:rPr lang="en-US" sz="2000" dirty="0"/>
              <a:t>Both Netflix and the law refer to </a:t>
            </a:r>
            <a:r>
              <a:rPr lang="en-US" sz="2000" i="1" dirty="0"/>
              <a:t>personal identifying/identifiable information</a:t>
            </a:r>
            <a:endParaRPr lang="en-US" sz="2000" dirty="0"/>
          </a:p>
          <a:p>
            <a:r>
              <a:rPr lang="en-US" sz="2000" dirty="0"/>
              <a:t>Conventionally: name, unique identifiers, address, …</a:t>
            </a:r>
          </a:p>
          <a:p>
            <a:r>
              <a:rPr lang="en-US" sz="2000" dirty="0"/>
              <a:t>Results of this attack: </a:t>
            </a:r>
            <a:r>
              <a:rPr lang="en-US" sz="2000" i="1" dirty="0"/>
              <a:t>“With 8 movie ratings (of which 2 may be completely wrong) and dates that may have a 14-day error, 99% of records are uniquely identified in the dataset. For 68%, two ratings and dates (with a 3-day error) are sufficient”</a:t>
            </a:r>
          </a:p>
          <a:p>
            <a:r>
              <a:rPr lang="en-US" sz="2000" dirty="0"/>
              <a:t>Netflix ended up settling a class-action lawsuit based on the Video Privacy Protection Act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F8954-5FFC-25BA-8945-984D8168C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15" y="1825625"/>
            <a:ext cx="3543285" cy="3896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3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33EB-484D-3A43-0A37-2B66F9672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5F3D4-3E86-BE02-2085-634494785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Seemingly straightforward policy, surprisingly difficult to defend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Need to be methodical about:</a:t>
            </a:r>
          </a:p>
          <a:p>
            <a:pPr lvl="1"/>
            <a:r>
              <a:rPr lang="en-US" sz="2000" dirty="0"/>
              <a:t>Defining security goals</a:t>
            </a:r>
          </a:p>
          <a:p>
            <a:pPr lvl="1"/>
            <a:r>
              <a:rPr lang="en-US" sz="2000" dirty="0"/>
              <a:t>Identifying a policy</a:t>
            </a:r>
          </a:p>
          <a:p>
            <a:pPr lvl="1"/>
            <a:r>
              <a:rPr lang="en-US" sz="2000" dirty="0"/>
              <a:t>Implementing enforcement</a:t>
            </a:r>
          </a:p>
          <a:p>
            <a:pPr lvl="1"/>
            <a:r>
              <a:rPr lang="en-US" sz="2000" dirty="0"/>
              <a:t>Demonstrating results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86220-AC32-BEC1-DC8A-B01D4FE0493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/>
              <a:t>Sneak peek: </a:t>
            </a:r>
            <a:r>
              <a:rPr lang="en-US" sz="2000" dirty="0"/>
              <a:t>Differential Privacy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en-US" sz="2000" dirty="0"/>
              <a:t>Goal: </a:t>
            </a:r>
            <a:r>
              <a:rPr lang="en-US" sz="2000" i="1" dirty="0"/>
              <a:t>A person’s risk of privacy breach should not increase because they participate</a:t>
            </a:r>
          </a:p>
          <a:p>
            <a:pPr marL="0" indent="0">
              <a:buNone/>
            </a:pPr>
            <a:r>
              <a:rPr lang="en-US" sz="2000" dirty="0"/>
              <a:t>Policy: </a:t>
            </a:r>
            <a:r>
              <a:rPr lang="en-US" sz="2000" i="1" dirty="0"/>
              <a:t>Regardless of whether someone is in the data, the output should remain about the same</a:t>
            </a:r>
          </a:p>
          <a:p>
            <a:pPr marL="0" indent="0">
              <a:buNone/>
            </a:pPr>
            <a:r>
              <a:rPr lang="en-US" sz="2000" dirty="0"/>
              <a:t>Enforcement: </a:t>
            </a:r>
            <a:r>
              <a:rPr lang="en-US" sz="2000" i="1" dirty="0"/>
              <a:t>Introduce randomness at key points in computation</a:t>
            </a:r>
          </a:p>
          <a:p>
            <a:pPr marL="0" indent="0">
              <a:buNone/>
            </a:pPr>
            <a:r>
              <a:rPr lang="en-US" sz="2000" dirty="0"/>
              <a:t>Result: </a:t>
            </a:r>
            <a:r>
              <a:rPr lang="en-US" sz="2000" i="1" dirty="0"/>
              <a:t>Provable guarantee limiting what personal data can be learned via output </a:t>
            </a:r>
          </a:p>
        </p:txBody>
      </p:sp>
    </p:spTree>
    <p:extLst>
      <p:ext uri="{BB962C8B-B14F-4D97-AF65-F5344CB8AC3E}">
        <p14:creationId xmlns:p14="http://schemas.microsoft.com/office/powerpoint/2010/main" val="285306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A2716-B5B7-B5CF-65E1-1514898F6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37C54-B144-5CAE-2EAE-3A9D7914F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960156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Security from a programmer’s standpoint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We’ll cover a range of concerns</a:t>
            </a:r>
          </a:p>
          <a:p>
            <a:pPr lvl="1"/>
            <a:r>
              <a:rPr lang="en-US" sz="2000" dirty="0"/>
              <a:t>Safety: </a:t>
            </a:r>
            <a:r>
              <a:rPr lang="en-US" sz="2000" i="1" dirty="0"/>
              <a:t>The code will never do something we deem “bad”</a:t>
            </a:r>
          </a:p>
          <a:p>
            <a:pPr lvl="1"/>
            <a:r>
              <a:rPr lang="en-US" sz="2000" dirty="0"/>
              <a:t>Isolation: </a:t>
            </a:r>
            <a:r>
              <a:rPr lang="en-US" sz="2000" i="1" dirty="0"/>
              <a:t>Untrusted code and data can’t affect important state</a:t>
            </a:r>
          </a:p>
          <a:p>
            <a:pPr lvl="1"/>
            <a:r>
              <a:rPr lang="en-US" sz="2000" dirty="0"/>
              <a:t>Information Flow: </a:t>
            </a:r>
            <a:r>
              <a:rPr lang="en-US" sz="2000" i="1" dirty="0"/>
              <a:t>Confidential data remains that way</a:t>
            </a:r>
            <a:endParaRPr lang="en-US" sz="2000" dirty="0"/>
          </a:p>
          <a:p>
            <a:pPr lvl="1"/>
            <a:r>
              <a:rPr lang="en-US" sz="2000" dirty="0"/>
              <a:t>Privacy: </a:t>
            </a:r>
            <a:r>
              <a:rPr lang="en-US" sz="2000" i="1" dirty="0"/>
              <a:t>Control over peoples’ data and how it’s used</a:t>
            </a:r>
          </a:p>
          <a:p>
            <a:pPr lvl="1"/>
            <a:r>
              <a:rPr lang="en-US" sz="2000" dirty="0"/>
              <a:t>Authorization: </a:t>
            </a:r>
            <a:r>
              <a:rPr lang="en-US" sz="2000" i="1" dirty="0"/>
              <a:t>Only designated actors/code can obtain rights</a:t>
            </a:r>
          </a:p>
          <a:p>
            <a:pPr lvl="1"/>
            <a:r>
              <a:rPr lang="en-US" sz="2000" dirty="0"/>
              <a:t>Trust: </a:t>
            </a:r>
            <a:r>
              <a:rPr lang="en-US" sz="2000" i="1" dirty="0"/>
              <a:t>Leverage a small base to establish trust in a complete system</a:t>
            </a:r>
          </a:p>
          <a:p>
            <a:pPr marL="0" indent="0">
              <a:buNone/>
            </a:pPr>
            <a:r>
              <a:rPr lang="en-US" sz="2400" dirty="0"/>
              <a:t>Recurring themes; ways of…</a:t>
            </a:r>
          </a:p>
          <a:p>
            <a:pPr lvl="1"/>
            <a:r>
              <a:rPr lang="en-US" sz="2000" dirty="0"/>
              <a:t>specifying computations that are secure, i.e. </a:t>
            </a:r>
            <a:r>
              <a:rPr lang="en-US" sz="2000" i="1" dirty="0"/>
              <a:t>policy</a:t>
            </a:r>
          </a:p>
          <a:p>
            <a:pPr lvl="1"/>
            <a:r>
              <a:rPr lang="en-US" sz="2000" dirty="0"/>
              <a:t>ensuring that code meets policy, i.e. </a:t>
            </a:r>
            <a:r>
              <a:rPr lang="en-US" sz="2000" i="1" dirty="0"/>
              <a:t>enforcement</a:t>
            </a:r>
          </a:p>
          <a:p>
            <a:pPr lvl="1"/>
            <a:r>
              <a:rPr lang="en-US" sz="2000" dirty="0"/>
              <a:t>connecting the two rigorously, i.e. </a:t>
            </a:r>
            <a:r>
              <a:rPr lang="en-US" sz="2000" i="1" dirty="0"/>
              <a:t>semantics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03156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67190-FE10-D3F9-AE93-91E3E56A4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and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14C52-A6FA-3A74-77E8-F16EBD8F14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6709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Why is this a logic and languages elective?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Precise ways to write down policies</a:t>
            </a:r>
          </a:p>
          <a:p>
            <a:pPr lvl="1"/>
            <a:r>
              <a:rPr lang="en-US" sz="2000" dirty="0"/>
              <a:t>Types, logical formulas, domain-specific languages</a:t>
            </a:r>
          </a:p>
          <a:p>
            <a:pPr lvl="1"/>
            <a:r>
              <a:rPr lang="en-US" sz="2000" dirty="0"/>
              <a:t>Correctness and security go hand-in-hand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r>
              <a:rPr lang="en-US" sz="2400" dirty="0"/>
              <a:t>Enforcing them </a:t>
            </a:r>
            <a:r>
              <a:rPr lang="en-US" sz="2400" i="1" dirty="0"/>
              <a:t>rigorously</a:t>
            </a:r>
            <a:endParaRPr lang="en-US" sz="2400" dirty="0"/>
          </a:p>
          <a:p>
            <a:pPr lvl="1"/>
            <a:r>
              <a:rPr lang="en-US" sz="2000" dirty="0"/>
              <a:t>Static: verification, type checking</a:t>
            </a:r>
          </a:p>
          <a:p>
            <a:pPr lvl="1"/>
            <a:r>
              <a:rPr lang="en-US" sz="2000" dirty="0"/>
              <a:t>Dynamic: runtime monitors, code instrumentation</a:t>
            </a:r>
          </a:p>
          <a:p>
            <a:pPr lvl="1"/>
            <a:r>
              <a:rPr lang="en-US" sz="2000" dirty="0"/>
              <a:t>Either way, prove that the policy won’t be violated</a:t>
            </a:r>
          </a:p>
        </p:txBody>
      </p:sp>
    </p:spTree>
    <p:extLst>
      <p:ext uri="{BB962C8B-B14F-4D97-AF65-F5344CB8AC3E}">
        <p14:creationId xmlns:p14="http://schemas.microsoft.com/office/powerpoint/2010/main" val="331743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2D520-47EF-50C8-9647-86DA758F0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A33D7-3142-C2FC-F630-E77C2133A0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894284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After taking this course, you should:</a:t>
            </a:r>
          </a:p>
          <a:p>
            <a:pPr lvl="1"/>
            <a:r>
              <a:rPr lang="en-US" sz="2000" dirty="0"/>
              <a:t>Be able to identify, formalize, and implement a range of practical security &amp; privacy policies</a:t>
            </a:r>
          </a:p>
          <a:p>
            <a:pPr lvl="1"/>
            <a:r>
              <a:rPr lang="en-US" sz="2000" dirty="0"/>
              <a:t>Understand the tradeoffs of different approaches to security &amp; privacy, and reason about which tradeoffs are justified</a:t>
            </a:r>
          </a:p>
          <a:p>
            <a:pPr lvl="1"/>
            <a:r>
              <a:rPr lang="en-US" sz="2000" dirty="0"/>
              <a:t>Understand how general principles like least privilege, roots of trust, and complete mediation play a role in building defenses</a:t>
            </a:r>
          </a:p>
          <a:p>
            <a:pPr lvl="1"/>
            <a:r>
              <a:rPr lang="en-US" sz="2000" dirty="0"/>
              <a:t>Be able to argue rigorously about software security mechanisms</a:t>
            </a:r>
          </a:p>
          <a:p>
            <a:pPr lvl="1"/>
            <a:r>
              <a:rPr lang="en-US" sz="2000" dirty="0"/>
              <a:t>Understand the role of automated reasoning in analyzing security policies and mechanisms, and gain experience applying widely-used tools for this purpose</a:t>
            </a:r>
          </a:p>
        </p:txBody>
      </p:sp>
    </p:spTree>
    <p:extLst>
      <p:ext uri="{BB962C8B-B14F-4D97-AF65-F5344CB8AC3E}">
        <p14:creationId xmlns:p14="http://schemas.microsoft.com/office/powerpoint/2010/main" val="217059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288657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Website: </a:t>
            </a:r>
            <a:r>
              <a:rPr lang="en-US" sz="2400" dirty="0">
                <a:hlinkClick r:id="rId2"/>
              </a:rPr>
              <a:t>https://cs.cmu.edu/~15316</a:t>
            </a:r>
            <a:endParaRPr lang="en-US" sz="2400" dirty="0"/>
          </a:p>
          <a:p>
            <a:r>
              <a:rPr lang="en-US" sz="2400" dirty="0"/>
              <a:t>Contact: Piazza</a:t>
            </a:r>
          </a:p>
          <a:p>
            <a:r>
              <a:rPr lang="en-US" sz="2400" dirty="0"/>
              <a:t>Lecture: HOA 160, 2:00-3:20 Tuesday/Thursday</a:t>
            </a:r>
          </a:p>
          <a:p>
            <a:pPr lvl="1"/>
            <a:r>
              <a:rPr lang="en-US" sz="2000" dirty="0"/>
              <a:t>Attendance expected, but not recorded</a:t>
            </a:r>
          </a:p>
          <a:p>
            <a:pPr lvl="1"/>
            <a:r>
              <a:rPr lang="en-US" sz="2000" dirty="0"/>
              <a:t>Piazza is not a substitute for attending lecture</a:t>
            </a:r>
          </a:p>
          <a:p>
            <a:r>
              <a:rPr lang="en-US" sz="2400" dirty="0"/>
              <a:t>Submit everything to </a:t>
            </a:r>
            <a:r>
              <a:rPr lang="en-US" sz="2400" dirty="0" err="1"/>
              <a:t>Gradescope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Office hours</a:t>
            </a:r>
          </a:p>
          <a:p>
            <a:pPr lvl="1"/>
            <a:r>
              <a:rPr lang="en-US" sz="2000" dirty="0"/>
              <a:t>My office, Fridays from 1:00-2:30</a:t>
            </a:r>
          </a:p>
          <a:p>
            <a:pPr lvl="1"/>
            <a:r>
              <a:rPr lang="en-US" sz="2000" dirty="0"/>
              <a:t>TAs in Gates Commons or CIC, details posted soon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75249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Breakdown:</a:t>
            </a:r>
          </a:p>
          <a:p>
            <a:pPr lvl="1">
              <a:defRPr/>
            </a:pP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40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% written homework</a:t>
            </a:r>
          </a:p>
          <a:p>
            <a:pPr lvl="1">
              <a:defRPr/>
            </a:pP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40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% labs</a:t>
            </a:r>
          </a:p>
          <a:p>
            <a:pPr lvl="1">
              <a:defRPr/>
            </a:pP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20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% final exam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Final letter grades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90/80/70/60 thresholds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Round up</a:t>
            </a:r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7B7B9E-C0C7-5BE4-7BA9-509EF6C64239}"/>
              </a:ext>
            </a:extLst>
          </p:cNvPr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5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 written </a:t>
            </a:r>
            <a:r>
              <a:rPr kumimoji="0" lang="en-US" sz="24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homeworks</a:t>
            </a:r>
            <a:endParaRPr kumimoji="0" lang="en-US" sz="2400" strike="noStrike" kern="1200" cap="none" spc="0" normalizeH="0" noProof="0" dirty="0">
              <a:ln>
                <a:noFill/>
              </a:ln>
              <a:solidFill>
                <a:schemeClr val="tx1">
                  <a:lumMod val="100000"/>
                </a:schemeClr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  <a:p>
            <a:pPr>
              <a:defRPr/>
            </a:pP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3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 labs</a:t>
            </a:r>
          </a:p>
          <a:p>
            <a:pPr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Final exam during finals week</a:t>
            </a:r>
          </a:p>
          <a:p>
            <a:pPr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Five late days, no more than 2 used on any one assignment</a:t>
            </a:r>
          </a:p>
        </p:txBody>
      </p:sp>
    </p:spTree>
    <p:extLst>
      <p:ext uri="{BB962C8B-B14F-4D97-AF65-F5344CB8AC3E}">
        <p14:creationId xmlns:p14="http://schemas.microsoft.com/office/powerpoint/2010/main" val="2019890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Written 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199" y="1812925"/>
            <a:ext cx="10342033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Focus on theory + fundamental skills</a:t>
            </a:r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1 week to complete</a:t>
            </a:r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Due dates for the </a:t>
            </a: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semester 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are on the course website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 based on: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Correctness (obviously)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Rigor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Clarity</a:t>
            </a:r>
          </a:p>
          <a:p>
            <a:pPr lvl="1"/>
            <a:endParaRPr lang="en-US" sz="20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Rigor and clarity in this course:</a:t>
            </a:r>
            <a:endParaRPr kumimoji="0" lang="en-US" sz="2400" b="1" strike="noStrike" kern="1200" cap="none" spc="0" normalizeH="0" noProof="0" dirty="0">
              <a:ln>
                <a:noFill/>
              </a:ln>
              <a:solidFill>
                <a:schemeClr val="tx1">
                  <a:lumMod val="100000"/>
                </a:schemeClr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Formally state what you intend to show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List any assumptions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Show your steps, with appropriate justification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198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Labs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199" y="1825625"/>
            <a:ext cx="10075333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/>
              <a:t>Translate theory into something that works</a:t>
            </a:r>
          </a:p>
          <a:p>
            <a:pPr lvl="1"/>
            <a:r>
              <a:rPr lang="en-US" sz="2000" dirty="0"/>
              <a:t>Design a set of policies and a way of enforcing them</a:t>
            </a:r>
          </a:p>
          <a:p>
            <a:pPr lvl="1"/>
            <a:r>
              <a:rPr lang="en-US" sz="2000" dirty="0"/>
              <a:t>Formalize both</a:t>
            </a:r>
          </a:p>
          <a:p>
            <a:pPr lvl="1"/>
            <a:r>
              <a:rPr lang="en-US" sz="2000" dirty="0"/>
              <a:t>Implement them for the setting described in the lab</a:t>
            </a:r>
          </a:p>
          <a:p>
            <a:pPr lvl="1"/>
            <a:r>
              <a:rPr lang="en-US" sz="2000" dirty="0"/>
              <a:t>Learn to use new tools in the process</a:t>
            </a:r>
          </a:p>
          <a:p>
            <a:pPr lvl="1"/>
            <a:endParaRPr lang="en-US" sz="20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 are based on: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Correct functionality (evaluated by </a:t>
            </a:r>
            <a:r>
              <a:rPr kumimoji="0" lang="en-US" sz="20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autograder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)</a:t>
            </a:r>
          </a:p>
          <a:p>
            <a:pPr lvl="1"/>
            <a:r>
              <a:rPr lang="en-US" sz="2000" dirty="0"/>
              <a:t>Completeness, robustness of security mechanism</a:t>
            </a:r>
          </a:p>
          <a:p>
            <a:pPr lvl="1"/>
            <a:r>
              <a:rPr lang="en-US" sz="2000" dirty="0"/>
              <a:t>Documentation, clarity of your solution</a:t>
            </a:r>
          </a:p>
          <a:p>
            <a:pPr lvl="1"/>
            <a:r>
              <a:rPr lang="en-US" sz="2000" dirty="0"/>
              <a:t>In-person comprehension check (~15 minute quiz)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r>
              <a:rPr lang="en-US" sz="2400" dirty="0"/>
              <a:t>Complete the labs independently!</a:t>
            </a:r>
          </a:p>
          <a:p>
            <a:pPr lvl="1"/>
            <a:r>
              <a:rPr lang="en-US" sz="2000" dirty="0"/>
              <a:t>We can help with: understanding the setting/concepts, critiquing your approach</a:t>
            </a:r>
          </a:p>
          <a:p>
            <a:pPr lvl="1"/>
            <a:r>
              <a:rPr lang="en-US" sz="2000" dirty="0"/>
              <a:t>We wont help with: debugging code, proposing an approach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25342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Final Exam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200" y="1825625"/>
            <a:ext cx="10007600" cy="4351338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Reason &amp; apply main ideas from this course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In-person, cumulative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Questions resemble less time-intensive homework problems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Representative practice exam released the last week of classes</a:t>
            </a:r>
          </a:p>
          <a:p>
            <a:pPr lvl="1"/>
            <a:endParaRPr lang="en-US" sz="20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Not a check on your recall of minute details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Exam comes with an extensive formula sheet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You may bring 1 page of handwritten notes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6727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5B28A-4E18-B216-A9C9-43605072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AI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AB568-6638-7D72-E3BB-25A5C28F47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</a:t>
            </a:r>
            <a:r>
              <a:rPr lang="en-US" b="1" dirty="0"/>
              <a:t>may</a:t>
            </a:r>
            <a:r>
              <a:rPr lang="en-US" dirty="0"/>
              <a:t> use AI to:</a:t>
            </a:r>
          </a:p>
          <a:p>
            <a:pPr lvl="1"/>
            <a:r>
              <a:rPr lang="en-US" dirty="0"/>
              <a:t>Explain, answer questions about concepts covered in the course</a:t>
            </a:r>
          </a:p>
          <a:p>
            <a:pPr lvl="1"/>
            <a:r>
              <a:rPr lang="en-US" dirty="0"/>
              <a:t>Check your understanding—but be careful, and check references!</a:t>
            </a:r>
          </a:p>
          <a:p>
            <a:pPr lvl="1"/>
            <a:r>
              <a:rPr lang="en-US" dirty="0"/>
              <a:t>Generate practice exercises</a:t>
            </a:r>
          </a:p>
          <a:p>
            <a:pPr lvl="1"/>
            <a:r>
              <a:rPr lang="en-US" dirty="0"/>
              <a:t>Help typeset work that you’ve already completed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CCA74A-2398-8FB8-BF41-0BF631FF54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</a:t>
            </a:r>
            <a:r>
              <a:rPr lang="en-US" b="1" dirty="0"/>
              <a:t>may not</a:t>
            </a:r>
            <a:r>
              <a:rPr lang="en-US" dirty="0"/>
              <a:t> use AI to:</a:t>
            </a:r>
          </a:p>
          <a:p>
            <a:pPr lvl="1"/>
            <a:r>
              <a:rPr lang="en-US" dirty="0"/>
              <a:t>Write </a:t>
            </a:r>
            <a:r>
              <a:rPr lang="en-US" i="1" dirty="0"/>
              <a:t>any</a:t>
            </a:r>
            <a:r>
              <a:rPr lang="en-US" dirty="0"/>
              <a:t> code for the labs</a:t>
            </a:r>
          </a:p>
          <a:p>
            <a:pPr lvl="1"/>
            <a:r>
              <a:rPr lang="en-US" dirty="0"/>
              <a:t>Write test cases that you hand in for a grade</a:t>
            </a:r>
          </a:p>
          <a:p>
            <a:pPr lvl="1"/>
            <a:r>
              <a:rPr lang="en-US" dirty="0"/>
              <a:t>Provide answers for written homework</a:t>
            </a:r>
          </a:p>
          <a:p>
            <a:pPr lvl="1"/>
            <a:r>
              <a:rPr lang="en-US" dirty="0"/>
              <a:t>Generally: complete graded work for you</a:t>
            </a:r>
          </a:p>
        </p:txBody>
      </p:sp>
    </p:spTree>
    <p:extLst>
      <p:ext uri="{BB962C8B-B14F-4D97-AF65-F5344CB8AC3E}">
        <p14:creationId xmlns:p14="http://schemas.microsoft.com/office/powerpoint/2010/main" val="1745941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BCDD7-3B54-64B4-AC4C-8C9E598A96A7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Before Thursday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7031-CC8E-5F67-C101-0B73914ED5FC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199" y="1825625"/>
            <a:ext cx="10278534" cy="4351338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Make sure that you are enrolled in </a:t>
            </a:r>
            <a:r>
              <a:rPr kumimoji="0" lang="en-US" sz="24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Gradescope</a:t>
            </a: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 and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 Piazza sections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Piazza signup: </a:t>
            </a: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  <a:hlinkClick r:id="rId4"/>
              </a:rPr>
              <a:t>https://piazza.com/cmu/spring2026/15316</a:t>
            </a:r>
            <a:endParaRPr lang="en-US" sz="2000" dirty="0">
              <a:solidFill>
                <a:schemeClr val="tx1">
                  <a:lumMod val="100000"/>
                </a:schemeClr>
              </a:solidFill>
              <a:latin typeface="Avenir Next LT Pro" panose="020B0504020202020204" pitchFamily="34" charset="0"/>
            </a:endParaRPr>
          </a:p>
          <a:p>
            <a:pPr lvl="1">
              <a:defRPr/>
            </a:pPr>
            <a:r>
              <a:rPr lang="en-US" sz="2000" dirty="0" err="1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Gradescope</a:t>
            </a: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 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code: </a:t>
            </a: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2D2XJ5</a:t>
            </a:r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79565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heme/theme1.xml><?xml version="1.0" encoding="utf-8"?>
<a:theme xmlns:a="http://schemas.openxmlformats.org/drawingml/2006/main" name="lec-theme">
  <a:themeElements>
    <a:clrScheme name="Shapes">
      <a:dk1>
        <a:sysClr val="windowText" lastClr="000000"/>
      </a:dk1>
      <a:lt1>
        <a:sysClr val="window" lastClr="FFFFFF"/>
      </a:lt1>
      <a:dk2>
        <a:srgbClr val="281B10"/>
      </a:dk2>
      <a:lt2>
        <a:srgbClr val="FFF9F5"/>
      </a:lt2>
      <a:accent1>
        <a:srgbClr val="EE7661"/>
      </a:accent1>
      <a:accent2>
        <a:srgbClr val="4E91F0"/>
      </a:accent2>
      <a:accent3>
        <a:srgbClr val="5B5260"/>
      </a:accent3>
      <a:accent4>
        <a:srgbClr val="2CC3B4"/>
      </a:accent4>
      <a:accent5>
        <a:srgbClr val="C097F8"/>
      </a:accent5>
      <a:accent6>
        <a:srgbClr val="FF9514"/>
      </a:accent6>
      <a:hlink>
        <a:srgbClr val="E50CBC"/>
      </a:hlink>
      <a:folHlink>
        <a:srgbClr val="6257FF"/>
      </a:folHlink>
    </a:clrScheme>
    <a:fontScheme name="Festival">
      <a:majorFont>
        <a:latin typeface="Tw Cen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c-theme" id="{6EB7AB2E-4B0F-4BDA-9A47-822D1CC959C5}" vid="{7A968F0D-55C4-4F24-8DFE-7D0182C2482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lec-theme</Template>
  <TotalTime>2068</TotalTime>
  <Words>1307</Words>
  <Application>Microsoft Macintosh PowerPoint</Application>
  <PresentationFormat>Widescreen</PresentationFormat>
  <Paragraphs>196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Avenir Next LT Pro</vt:lpstr>
      <vt:lpstr>Cambria Math</vt:lpstr>
      <vt:lpstr>Tw Cen MT</vt:lpstr>
      <vt:lpstr>Verdana</vt:lpstr>
      <vt:lpstr>lec-theme</vt:lpstr>
      <vt:lpstr>15-316: Software Foundations of Security and Privacy</vt:lpstr>
      <vt:lpstr>Course Staff</vt:lpstr>
      <vt:lpstr>Failed Attempts at Security: Netflix Prize</vt:lpstr>
      <vt:lpstr>A brief digression</vt:lpstr>
      <vt:lpstr>Damning revelations</vt:lpstr>
      <vt:lpstr>Video Privacy Protection Act of 1988</vt:lpstr>
      <vt:lpstr>PowerPoint Presentation</vt:lpstr>
      <vt:lpstr>Entropy and identity</vt:lpstr>
      <vt:lpstr>What is private information anyway?</vt:lpstr>
      <vt:lpstr>Takeaways</vt:lpstr>
      <vt:lpstr>This course</vt:lpstr>
      <vt:lpstr>Logic and languages</vt:lpstr>
      <vt:lpstr>Learning objectives</vt:lpstr>
      <vt:lpstr>Logistics</vt:lpstr>
      <vt:lpstr>Grading</vt:lpstr>
      <vt:lpstr>Written homework</vt:lpstr>
      <vt:lpstr>Labs</vt:lpstr>
      <vt:lpstr>Final Exam</vt:lpstr>
      <vt:lpstr>Use of AI tools</vt:lpstr>
      <vt:lpstr>Before Thursday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15-316: Software Foundations of Security and Privacy</dc:title>
  <dc:creator>Matt Fredrikson</dc:creator>
  <cp:lastModifiedBy>Matt Fredrikson</cp:lastModifiedBy>
  <cp:revision>53</cp:revision>
  <cp:lastPrinted>2026-01-13T16:13:17Z</cp:lastPrinted>
  <dcterms:created xsi:type="dcterms:W3CDTF">2022-08-29T14:06:33Z</dcterms:created>
  <dcterms:modified xsi:type="dcterms:W3CDTF">2026-01-14T14:39:05Z</dcterms:modified>
</cp:coreProperties>
</file>